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42"/>
  </p:notesMasterIdLst>
  <p:sldIdLst>
    <p:sldId id="2345" r:id="rId6"/>
    <p:sldId id="2334" r:id="rId7"/>
    <p:sldId id="2335" r:id="rId8"/>
    <p:sldId id="2385" r:id="rId9"/>
    <p:sldId id="2386" r:id="rId10"/>
    <p:sldId id="2351" r:id="rId11"/>
    <p:sldId id="2382" r:id="rId12"/>
    <p:sldId id="2383" r:id="rId13"/>
    <p:sldId id="2384" r:id="rId14"/>
    <p:sldId id="2381" r:id="rId15"/>
    <p:sldId id="2374" r:id="rId16"/>
    <p:sldId id="2375" r:id="rId17"/>
    <p:sldId id="2376" r:id="rId18"/>
    <p:sldId id="2380" r:id="rId19"/>
    <p:sldId id="2377" r:id="rId20"/>
    <p:sldId id="2378" r:id="rId21"/>
    <p:sldId id="2379" r:id="rId22"/>
    <p:sldId id="2364" r:id="rId23"/>
    <p:sldId id="2355" r:id="rId24"/>
    <p:sldId id="2356" r:id="rId25"/>
    <p:sldId id="2396" r:id="rId26"/>
    <p:sldId id="2395" r:id="rId27"/>
    <p:sldId id="2371" r:id="rId28"/>
    <p:sldId id="2365" r:id="rId29"/>
    <p:sldId id="2399" r:id="rId30"/>
    <p:sldId id="2400" r:id="rId31"/>
    <p:sldId id="2397" r:id="rId32"/>
    <p:sldId id="2359" r:id="rId33"/>
    <p:sldId id="2398" r:id="rId34"/>
    <p:sldId id="2389" r:id="rId35"/>
    <p:sldId id="2390" r:id="rId36"/>
    <p:sldId id="2391" r:id="rId37"/>
    <p:sldId id="2392" r:id="rId38"/>
    <p:sldId id="2393" r:id="rId39"/>
    <p:sldId id="2394" r:id="rId40"/>
    <p:sldId id="2368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24F"/>
    <a:srgbClr val="9B754F"/>
    <a:srgbClr val="FCDC95"/>
    <a:srgbClr val="BC9B7B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9F4E6E-F857-42E6-9CA2-ED4FA3CCFDEF}" v="657" dt="2024-09-26T16:55:36.884"/>
    <p1510:client id="{59FFE25C-5ED5-D4F2-97E3-BF5D9B67F690}" v="361" dt="2024-09-26T11:51:50.342"/>
    <p1510:client id="{AE838C4D-672F-3D07-68A3-2DE64420F3B9}" v="70" dt="2024-09-26T11:16:45.417"/>
    <p1510:client id="{D13C406E-4FC9-4538-B5B9-B12214952A27}" v="119" dt="2024-09-26T11:54:24.192"/>
    <p1510:client id="{D243B82E-8DCC-B144-B44A-7E75621C75CA}" v="1404" dt="2024-09-27T01:02:13.594"/>
    <p1510:client id="{EE9C7E04-510E-D34B-432C-36BE7BF986B3}" v="24" dt="2024-09-26T12:38:38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28"/>
  </p:normalViewPr>
  <p:slideViewPr>
    <p:cSldViewPr snapToGrid="0">
      <p:cViewPr>
        <p:scale>
          <a:sx n="70" d="100"/>
          <a:sy n="70" d="100"/>
        </p:scale>
        <p:origin x="429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fld id="{160DAEDB-F8EB-4B37-B651-17F046B807DC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 R" panose="00020600040101010101" pitchFamily="18" charset="-122"/>
                <a:ea typeface="阿里巴巴普惠体 R" panose="00020600040101010101" pitchFamily="18" charset="-122"/>
              </a:defRPr>
            </a:lvl1pPr>
          </a:lstStyle>
          <a:p>
            <a:fld id="{86751F25-9338-4986-A1F2-54D37A03FFF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 R" panose="00020600040101010101" pitchFamily="18" charset="-122"/>
        <a:ea typeface="阿里巴巴普惠体 R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756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206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162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998766-6A9C-4F2F-8D78-A8B7F422C2B3}" type="slidenum">
              <a:rPr lang="zh-CN" altLang="en-US" smtClean="0">
                <a:solidFill>
                  <a:prstClr val="black"/>
                </a:solidFill>
                <a:latin typeface="Calibri"/>
                <a:ea typeface="宋体"/>
              </a:rPr>
              <a:t>36</a:t>
            </a:fld>
            <a:endParaRPr lang="zh-CN" altLang="en-US">
              <a:solidFill>
                <a:prstClr val="black"/>
              </a:solidFill>
              <a:latin typeface="Calibri"/>
              <a:ea typeface="宋体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-1290682" y="294519"/>
            <a:ext cx="2584540" cy="2365194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511671" y="-888078"/>
            <a:ext cx="2584540" cy="2365194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平行四边形 4"/>
          <p:cNvSpPr/>
          <p:nvPr userDrawn="1"/>
        </p:nvSpPr>
        <p:spPr>
          <a:xfrm>
            <a:off x="9095790" y="5427303"/>
            <a:ext cx="2584540" cy="2365194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平行四边形 5"/>
          <p:cNvSpPr/>
          <p:nvPr userDrawn="1"/>
        </p:nvSpPr>
        <p:spPr>
          <a:xfrm>
            <a:off x="10898143" y="4244706"/>
            <a:ext cx="2584540" cy="2365194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 userDrawn="1"/>
        </p:nvSpPr>
        <p:spPr>
          <a:xfrm>
            <a:off x="-1764002" y="-20138"/>
            <a:ext cx="6772289" cy="930128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-1788384" y="-155534"/>
            <a:ext cx="6772289" cy="930128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5" name="平行四边形 4"/>
          <p:cNvSpPr/>
          <p:nvPr userDrawn="1"/>
        </p:nvSpPr>
        <p:spPr>
          <a:xfrm>
            <a:off x="7834860" y="6399026"/>
            <a:ext cx="6772289" cy="930128"/>
          </a:xfrm>
          <a:prstGeom prst="parallelogram">
            <a:avLst>
              <a:gd name="adj" fmla="val 10014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" name="平行四边形 5"/>
          <p:cNvSpPr/>
          <p:nvPr userDrawn="1"/>
        </p:nvSpPr>
        <p:spPr>
          <a:xfrm>
            <a:off x="8084593" y="6396864"/>
            <a:ext cx="6772289" cy="930128"/>
          </a:xfrm>
          <a:prstGeom prst="parallelogram">
            <a:avLst>
              <a:gd name="adj" fmla="val 10014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A17E80-96A6-4509-A64B-F86AA87E1762}" type="datetimeFigureOut">
              <a:rPr lang="zh-CN" altLang="en-US" smtClean="0"/>
              <a:t>2024/9/27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C9BE40-34EB-4680-AB44-538561DC2F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2123604" y="6858000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2024/9/27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2024/9/27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4037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直角三角形 71"/>
          <p:cNvSpPr/>
          <p:nvPr/>
        </p:nvSpPr>
        <p:spPr>
          <a:xfrm rot="5400000">
            <a:off x="1588" y="-1"/>
            <a:ext cx="3715658" cy="371565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1" name="直角三角形 70"/>
          <p:cNvSpPr/>
          <p:nvPr/>
        </p:nvSpPr>
        <p:spPr>
          <a:xfrm rot="16200000">
            <a:off x="8689233" y="3356819"/>
            <a:ext cx="3501180" cy="350118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2" name="直角三角形 1"/>
          <p:cNvSpPr/>
          <p:nvPr/>
        </p:nvSpPr>
        <p:spPr>
          <a:xfrm rot="5400000">
            <a:off x="1588" y="0"/>
            <a:ext cx="3257921" cy="3257921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0" name="直角三角形 69"/>
          <p:cNvSpPr/>
          <p:nvPr/>
        </p:nvSpPr>
        <p:spPr>
          <a:xfrm rot="16200000">
            <a:off x="9120547" y="3788134"/>
            <a:ext cx="3069865" cy="3069865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" name="平行四边形 2"/>
          <p:cNvSpPr/>
          <p:nvPr/>
        </p:nvSpPr>
        <p:spPr>
          <a:xfrm>
            <a:off x="1781419" y="2"/>
            <a:ext cx="3088716" cy="1805556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3" name="平行四边形 72"/>
          <p:cNvSpPr/>
          <p:nvPr/>
        </p:nvSpPr>
        <p:spPr>
          <a:xfrm>
            <a:off x="-2438922" y="1167126"/>
            <a:ext cx="3234853" cy="2990774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4" name="平行四边形 73"/>
          <p:cNvSpPr/>
          <p:nvPr/>
        </p:nvSpPr>
        <p:spPr>
          <a:xfrm>
            <a:off x="11681703" y="2998581"/>
            <a:ext cx="3048130" cy="2818139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75" name="平行四边形 74"/>
          <p:cNvSpPr/>
          <p:nvPr/>
        </p:nvSpPr>
        <p:spPr>
          <a:xfrm>
            <a:off x="7497122" y="5167086"/>
            <a:ext cx="2910426" cy="1701334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16" name="六边形 15"/>
          <p:cNvSpPr/>
          <p:nvPr/>
        </p:nvSpPr>
        <p:spPr>
          <a:xfrm flipH="1">
            <a:off x="3468045" y="4791159"/>
            <a:ext cx="2015699" cy="431936"/>
          </a:xfrm>
          <a:prstGeom prst="hexagon">
            <a:avLst/>
          </a:prstGeom>
          <a:solidFill>
            <a:schemeClr val="bg1"/>
          </a:solidFill>
          <a:ln w="19050">
            <a:gradFill>
              <a:gsLst>
                <a:gs pos="0">
                  <a:schemeClr val="bg1"/>
                </a:gs>
                <a:gs pos="100000">
                  <a:srgbClr val="CBCBCB"/>
                </a:gs>
              </a:gsLst>
              <a:lin ang="5400000" scaled="0"/>
            </a:gradFill>
          </a:ln>
          <a:effectLst>
            <a:outerShdw blurRad="1905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3379291" y="4786238"/>
            <a:ext cx="2159677" cy="48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600" b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社指中心</a:t>
            </a:r>
            <a:endParaRPr lang="zh-CN" altLang="zh-CN" sz="1600" b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六边形 17"/>
          <p:cNvSpPr/>
          <p:nvPr/>
        </p:nvSpPr>
        <p:spPr>
          <a:xfrm flipH="1">
            <a:off x="6351772" y="4794428"/>
            <a:ext cx="2015699" cy="431936"/>
          </a:xfrm>
          <a:prstGeom prst="hexagon">
            <a:avLst/>
          </a:prstGeom>
          <a:solidFill>
            <a:schemeClr val="bg1"/>
          </a:solidFill>
          <a:ln w="19050">
            <a:gradFill>
              <a:gsLst>
                <a:gs pos="0">
                  <a:schemeClr val="bg1"/>
                </a:gs>
                <a:gs pos="100000">
                  <a:srgbClr val="CBCBCB"/>
                </a:gs>
              </a:gsLst>
              <a:lin ang="5400000" scaled="0"/>
            </a:gradFill>
          </a:ln>
          <a:effectLst>
            <a:outerShdw blurRad="1905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9" name="Rectangle 4"/>
          <p:cNvSpPr txBox="1">
            <a:spLocks noChangeArrowheads="1"/>
          </p:cNvSpPr>
          <p:nvPr/>
        </p:nvSpPr>
        <p:spPr bwMode="auto">
          <a:xfrm>
            <a:off x="6288476" y="4784730"/>
            <a:ext cx="2159677" cy="48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en-US" altLang="zh-CN" sz="1600" b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2024.9.27</a:t>
            </a:r>
            <a:endParaRPr lang="zh-CN" altLang="zh-CN" sz="1600" b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135399" y="2876139"/>
            <a:ext cx="8101677" cy="144340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  <a:defRPr/>
            </a:pPr>
            <a:r>
              <a:rPr lang="zh-CN" altLang="en-US" sz="4000" b="1">
                <a:latin typeface="Microsoft YaHei UI"/>
                <a:ea typeface="Microsoft YaHei UI"/>
              </a:rPr>
              <a:t>浙江大学国际校区</a:t>
            </a:r>
            <a:r>
              <a:rPr lang="en-US" altLang="zh-CN" sz="4000" b="1">
                <a:latin typeface="Microsoft YaHei UI"/>
                <a:ea typeface="Microsoft YaHei UI"/>
              </a:rPr>
              <a:t>2024</a:t>
            </a:r>
            <a:r>
              <a:rPr lang="zh-CN" altLang="en-US" sz="4000" b="1">
                <a:latin typeface="Microsoft YaHei UI"/>
                <a:ea typeface="Microsoft YaHei UI"/>
              </a:rPr>
              <a:t>学年</a:t>
            </a:r>
            <a:endParaRPr lang="en-US" altLang="zh-CN" sz="4000" b="1">
              <a:latin typeface="Microsoft YaHei UI"/>
              <a:ea typeface="Microsoft YaHei UI"/>
            </a:endParaRPr>
          </a:p>
          <a:p>
            <a:pPr algn="ctr">
              <a:lnSpc>
                <a:spcPct val="114000"/>
              </a:lnSpc>
              <a:defRPr/>
            </a:pPr>
            <a:r>
              <a:rPr lang="zh-CN" altLang="en-US" sz="4000" b="1">
                <a:latin typeface="Microsoft YaHei UI"/>
                <a:ea typeface="Microsoft YaHei UI"/>
              </a:rPr>
              <a:t>社团负责人第一次全体会议</a:t>
            </a:r>
            <a:endParaRPr kumimoji="0" lang="en-US" altLang="zh-CN" sz="11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230" y="171790"/>
            <a:ext cx="6816936" cy="249206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1333572" y="2722262"/>
            <a:ext cx="2053209" cy="2628900"/>
            <a:chOff x="622854" y="2140222"/>
            <a:chExt cx="2570922" cy="3551582"/>
          </a:xfrm>
          <a:solidFill>
            <a:srgbClr val="002060"/>
          </a:solidFill>
        </p:grpSpPr>
        <p:sp>
          <p:nvSpPr>
            <p:cNvPr id="37" name="矩形 36"/>
            <p:cNvSpPr/>
            <p:nvPr/>
          </p:nvSpPr>
          <p:spPr>
            <a:xfrm>
              <a:off x="622854" y="2140222"/>
              <a:ext cx="2570922" cy="35515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61795" y="4106955"/>
              <a:ext cx="2067927" cy="6236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rtl="0"/>
              <a:r>
                <a:rPr lang="zh-CN" altLang="en-US" sz="2400">
                  <a:solidFill>
                    <a:schemeClr val="bg1"/>
                  </a:solidFill>
                </a:rPr>
                <a:t>社指成员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143001" y="2833116"/>
              <a:ext cx="1461053" cy="11226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zh-CN" altLang="en-US" sz="48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1378228" y="2928475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1321906" y="3816370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组合 42"/>
          <p:cNvGrpSpPr/>
          <p:nvPr/>
        </p:nvGrpSpPr>
        <p:grpSpPr>
          <a:xfrm>
            <a:off x="4868440" y="2722262"/>
            <a:ext cx="2053209" cy="2628900"/>
            <a:chOff x="3419062" y="2140222"/>
            <a:chExt cx="2570922" cy="3551582"/>
          </a:xfrm>
          <a:solidFill>
            <a:srgbClr val="0070C0"/>
          </a:solidFill>
        </p:grpSpPr>
        <p:sp>
          <p:nvSpPr>
            <p:cNvPr id="44" name="矩形 43"/>
            <p:cNvSpPr/>
            <p:nvPr/>
          </p:nvSpPr>
          <p:spPr>
            <a:xfrm>
              <a:off x="3419062" y="2140222"/>
              <a:ext cx="2570922" cy="35515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760306" y="4106955"/>
              <a:ext cx="1818860" cy="6236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bg1"/>
                  </a:solidFill>
                  <a:cs typeface="+mn-ea"/>
                  <a:sym typeface="+mn-lt"/>
                </a:rPr>
                <a:t>社团运营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922643" y="2833219"/>
              <a:ext cx="1517375" cy="11226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zh-CN" altLang="en-US" sz="48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4174436" y="2928475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4118114" y="3816370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/>
          <p:cNvGrpSpPr/>
          <p:nvPr/>
        </p:nvGrpSpPr>
        <p:grpSpPr>
          <a:xfrm>
            <a:off x="8474059" y="2722262"/>
            <a:ext cx="2053209" cy="2628900"/>
            <a:chOff x="6215270" y="2140222"/>
            <a:chExt cx="2570922" cy="3551582"/>
          </a:xfrm>
          <a:solidFill>
            <a:srgbClr val="002060"/>
          </a:solidFill>
        </p:grpSpPr>
        <p:sp>
          <p:nvSpPr>
            <p:cNvPr id="51" name="矩形 50"/>
            <p:cNvSpPr/>
            <p:nvPr/>
          </p:nvSpPr>
          <p:spPr>
            <a:xfrm>
              <a:off x="6215270" y="2140222"/>
              <a:ext cx="2570922" cy="35515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556514" y="4106955"/>
              <a:ext cx="1818860" cy="6236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cs typeface="+mn-ea"/>
                  <a:sym typeface="+mn-lt"/>
                </a:rPr>
                <a:t>QA</a:t>
              </a:r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669157" y="2857962"/>
              <a:ext cx="1517375" cy="11226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b="1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zh-CN" altLang="en-US" sz="48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6970644" y="2928475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6914322" y="3816370"/>
              <a:ext cx="1013792" cy="0"/>
            </a:xfrm>
            <a:prstGeom prst="line">
              <a:avLst/>
            </a:prstGeom>
            <a:grpFill/>
            <a:ln>
              <a:gradFill>
                <a:gsLst>
                  <a:gs pos="53000">
                    <a:schemeClr val="bg1"/>
                  </a:gs>
                  <a:gs pos="0">
                    <a:schemeClr val="bg1">
                      <a:alpha val="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组合 63"/>
          <p:cNvGrpSpPr/>
          <p:nvPr/>
        </p:nvGrpSpPr>
        <p:grpSpPr>
          <a:xfrm>
            <a:off x="4424675" y="1198076"/>
            <a:ext cx="3950107" cy="1015663"/>
            <a:chOff x="3534580" y="915467"/>
            <a:chExt cx="3475820" cy="1015928"/>
          </a:xfrm>
        </p:grpSpPr>
        <p:sp>
          <p:nvSpPr>
            <p:cNvPr id="65" name="文本框 64"/>
            <p:cNvSpPr txBox="1"/>
            <p:nvPr/>
          </p:nvSpPr>
          <p:spPr>
            <a:xfrm>
              <a:off x="3534580" y="915467"/>
              <a:ext cx="1818861" cy="1015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>
                  <a:solidFill>
                    <a:schemeClr val="accent6">
                      <a:lumMod val="50000"/>
                    </a:schemeClr>
                  </a:solidFill>
                  <a:cs typeface="+mn-ea"/>
                  <a:sym typeface="+mn-lt"/>
                </a:rPr>
                <a:t>目录</a:t>
              </a: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5191539" y="1477652"/>
              <a:ext cx="1818861" cy="400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>
                  <a:solidFill>
                    <a:schemeClr val="accent6">
                      <a:lumMod val="50000"/>
                    </a:schemeClr>
                  </a:solidFill>
                  <a:cs typeface="+mn-ea"/>
                  <a:sym typeface="+mn-lt"/>
                </a:rPr>
                <a:t> CONTENTS </a:t>
              </a:r>
              <a:endParaRPr lang="zh-CN" altLang="en-US" sz="2000">
                <a:solidFill>
                  <a:schemeClr val="accent6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2"/>
          <p:cNvSpPr txBox="1"/>
          <p:nvPr>
            <p:custDataLst>
              <p:tags r:id="rId1"/>
            </p:custDataLst>
          </p:nvPr>
        </p:nvSpPr>
        <p:spPr>
          <a:xfrm>
            <a:off x="887229" y="1653399"/>
            <a:ext cx="4621101" cy="45615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指导老师：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9BC0DF1-793C-FF68-3000-3FD92F46422E}"/>
              </a:ext>
            </a:extLst>
          </p:cNvPr>
          <p:cNvSpPr txBox="1"/>
          <p:nvPr/>
        </p:nvSpPr>
        <p:spPr>
          <a:xfrm>
            <a:off x="504039" y="829344"/>
            <a:ext cx="3821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rPr>
              <a:t>01</a:t>
            </a:r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rPr>
              <a:t> 社指成员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88B836-4684-971C-B159-38583A37FED7}"/>
              </a:ext>
            </a:extLst>
          </p:cNvPr>
          <p:cNvSpPr txBox="1"/>
          <p:nvPr/>
        </p:nvSpPr>
        <p:spPr>
          <a:xfrm>
            <a:off x="3985979" y="1899933"/>
            <a:ext cx="3614135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400" dirty="0" err="1"/>
              <a:t>Zibs</a:t>
            </a:r>
            <a:r>
              <a:rPr kumimoji="1" lang="zh-CN" altLang="en-US" sz="2400" dirty="0"/>
              <a:t>辅导员 丁林老师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en-US" altLang="zh-CN" sz="2400" dirty="0"/>
              <a:t>ZJUI</a:t>
            </a:r>
            <a:r>
              <a:rPr kumimoji="1" lang="zh-CN" altLang="en-US" sz="2400" dirty="0"/>
              <a:t>辅导员 王威老师</a:t>
            </a:r>
            <a:endParaRPr kumimoji="1" lang="en-US" altLang="zh-CN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3C91F49-4B79-CC79-CDDE-B507C0D09B1C}"/>
              </a:ext>
            </a:extLst>
          </p:cNvPr>
          <p:cNvSpPr txBox="1"/>
          <p:nvPr/>
        </p:nvSpPr>
        <p:spPr>
          <a:xfrm>
            <a:off x="2414540" y="3259190"/>
            <a:ext cx="2293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rPr>
              <a:t>社指负责人：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662541-A915-A019-476A-57B75FAE3810}"/>
              </a:ext>
            </a:extLst>
          </p:cNvPr>
          <p:cNvSpPr txBox="1"/>
          <p:nvPr/>
        </p:nvSpPr>
        <p:spPr>
          <a:xfrm>
            <a:off x="3985979" y="3720855"/>
            <a:ext cx="6543910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/>
              <a:t>何柳：活动组织</a:t>
            </a:r>
            <a:endParaRPr kumimoji="1" lang="en-US" altLang="zh-CN" sz="2400"/>
          </a:p>
          <a:p>
            <a:pPr>
              <a:lnSpc>
                <a:spcPct val="150000"/>
              </a:lnSpc>
            </a:pPr>
            <a:r>
              <a:rPr kumimoji="1" lang="zh-CN" altLang="en-US" sz="2400"/>
              <a:t>佘宇轩：综合组负责人（对接日常活动）</a:t>
            </a:r>
            <a:endParaRPr kumimoji="1" lang="en-US" altLang="zh-CN" sz="2400"/>
          </a:p>
          <a:p>
            <a:pPr>
              <a:lnSpc>
                <a:spcPct val="150000"/>
              </a:lnSpc>
            </a:pPr>
            <a:r>
              <a:rPr kumimoji="1" lang="zh-CN" altLang="en-US" sz="2400"/>
              <a:t>景泽虞：报销组负责人（报销）</a:t>
            </a:r>
            <a:endParaRPr kumimoji="1" lang="en-US" altLang="zh-CN" sz="2400"/>
          </a:p>
          <a:p>
            <a:pPr>
              <a:lnSpc>
                <a:spcPct val="150000"/>
              </a:lnSpc>
            </a:pPr>
            <a:r>
              <a:rPr kumimoji="1" lang="zh-CN" altLang="en-US" sz="2400"/>
              <a:t>段博朝：社团发展组负责人（帮助社团发展）</a:t>
            </a:r>
            <a:endParaRPr kumimoji="1" lang="en-US" altLang="zh-CN" sz="2400"/>
          </a:p>
          <a:p>
            <a:pPr>
              <a:lnSpc>
                <a:spcPct val="150000"/>
              </a:lnSpc>
            </a:pPr>
            <a:r>
              <a:rPr kumimoji="1" lang="zh-CN" altLang="en-US" sz="2400"/>
              <a:t>陈姝彤：宣传组负责人（审核推文海报）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7A21FD1-966B-D84F-E4BE-E4B48D7D75AD}"/>
              </a:ext>
            </a:extLst>
          </p:cNvPr>
          <p:cNvSpPr txBox="1"/>
          <p:nvPr/>
        </p:nvSpPr>
        <p:spPr>
          <a:xfrm>
            <a:off x="524934" y="831333"/>
            <a:ext cx="943186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cs typeface="+mn-ea"/>
              </a:rPr>
              <a:t>02</a:t>
            </a:r>
            <a:r>
              <a:rPr lang="zh-CN" altLang="en-US" sz="4400" b="1" dirty="0">
                <a:cs typeface="+mn-ea"/>
              </a:rPr>
              <a:t> </a:t>
            </a:r>
            <a:r>
              <a:rPr lang="zh-CN" altLang="en-US" sz="4400" b="1" dirty="0">
                <a:cs typeface="+mn-ea"/>
                <a:sym typeface="+mn-lt"/>
              </a:rPr>
              <a:t>社团运营</a:t>
            </a:r>
          </a:p>
          <a:p>
            <a:endParaRPr lang="zh-CN" altLang="en-US" sz="1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47223E-56DD-AD2D-A677-46168C0291B0}"/>
              </a:ext>
            </a:extLst>
          </p:cNvPr>
          <p:cNvSpPr txBox="1"/>
          <p:nvPr/>
        </p:nvSpPr>
        <p:spPr>
          <a:xfrm>
            <a:off x="1693333" y="1877773"/>
            <a:ext cx="8754534" cy="4149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3600" b="1" dirty="0"/>
              <a:t>考核与荣誉</a:t>
            </a:r>
            <a:endParaRPr kumimoji="1" lang="en-US" altLang="zh-CN" sz="3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3600" b="1" dirty="0"/>
              <a:t>活动与流程</a:t>
            </a:r>
            <a:endParaRPr kumimoji="1" lang="en-US" altLang="zh-CN" sz="3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3600" b="1" dirty="0"/>
              <a:t>经费与报销</a:t>
            </a:r>
            <a:endParaRPr kumimoji="1" lang="en-US" altLang="zh-CN" sz="3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3600" b="1" dirty="0"/>
              <a:t>宣传与审核</a:t>
            </a:r>
            <a:endParaRPr kumimoji="1" lang="en-US" altLang="zh-CN" sz="3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3600" b="1" dirty="0"/>
              <a:t>筹备与转正</a:t>
            </a:r>
          </a:p>
        </p:txBody>
      </p:sp>
    </p:spTree>
    <p:extLst>
      <p:ext uri="{BB962C8B-B14F-4D97-AF65-F5344CB8AC3E}">
        <p14:creationId xmlns:p14="http://schemas.microsoft.com/office/powerpoint/2010/main" val="2401547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5B59B88-02B7-7176-8426-4BAB11C91C98}"/>
              </a:ext>
            </a:extLst>
          </p:cNvPr>
          <p:cNvSpPr txBox="1"/>
          <p:nvPr/>
        </p:nvSpPr>
        <p:spPr>
          <a:xfrm>
            <a:off x="1810658" y="2321004"/>
            <a:ext cx="832394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活动与流程​</a:t>
            </a:r>
          </a:p>
        </p:txBody>
      </p:sp>
    </p:spTree>
    <p:extLst>
      <p:ext uri="{BB962C8B-B14F-4D97-AF65-F5344CB8AC3E}">
        <p14:creationId xmlns:p14="http://schemas.microsoft.com/office/powerpoint/2010/main" val="2195257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043023" y="1944938"/>
            <a:ext cx="4828073" cy="1704984"/>
            <a:chOff x="5037822" y="1936949"/>
            <a:chExt cx="4828073" cy="1711363"/>
          </a:xfrm>
        </p:grpSpPr>
        <p:cxnSp>
          <p:nvCxnSpPr>
            <p:cNvPr id="7" name="直接连接符 6"/>
            <p:cNvCxnSpPr>
              <a:cxnSpLocks/>
              <a:stCxn id="17" idx="6"/>
              <a:endCxn id="29" idx="2"/>
            </p:cNvCxnSpPr>
            <p:nvPr/>
          </p:nvCxnSpPr>
          <p:spPr>
            <a:xfrm>
              <a:off x="5037822" y="3611735"/>
              <a:ext cx="1933933" cy="36577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6101116" y="2020357"/>
              <a:ext cx="85824" cy="1583486"/>
              <a:chOff x="5862564" y="1850857"/>
              <a:chExt cx="85824" cy="1583486"/>
            </a:xfr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0" name="直接连接符 9"/>
              <p:cNvCxnSpPr/>
              <p:nvPr/>
            </p:nvCxnSpPr>
            <p:spPr>
              <a:xfrm flipH="1" flipV="1">
                <a:off x="5862564" y="1850857"/>
                <a:ext cx="650" cy="1583486"/>
              </a:xfrm>
              <a:prstGeom prst="line">
                <a:avLst/>
              </a:prstGeom>
              <a:grpFill/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矩形 10"/>
              <p:cNvSpPr/>
              <p:nvPr/>
            </p:nvSpPr>
            <p:spPr>
              <a:xfrm flipV="1">
                <a:off x="5869214" y="1850857"/>
                <a:ext cx="79174" cy="395871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6209004" y="1936949"/>
              <a:ext cx="3656891" cy="3163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 sz="1800" spc="0">
                  <a:solidFill>
                    <a:srgbClr val="000000"/>
                  </a:solidFill>
                </a:defRPr>
              </a:pPr>
              <a:endParaRPr lang="zh-CN" altLang="en-US" sz="1100" spc="24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573488" y="3454243"/>
            <a:ext cx="5591429" cy="1744916"/>
            <a:chOff x="2573488" y="3454243"/>
            <a:chExt cx="5591429" cy="1744916"/>
          </a:xfrm>
        </p:grpSpPr>
        <p:cxnSp>
          <p:nvCxnSpPr>
            <p:cNvPr id="13" name="直接连接符 12"/>
            <p:cNvCxnSpPr>
              <a:stCxn id="21" idx="6"/>
              <a:endCxn id="17" idx="2"/>
            </p:cNvCxnSpPr>
            <p:nvPr/>
          </p:nvCxnSpPr>
          <p:spPr>
            <a:xfrm>
              <a:off x="2573488" y="3594640"/>
              <a:ext cx="2145857" cy="18842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4354240" y="3861051"/>
              <a:ext cx="1048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2024.11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3703672" y="3615673"/>
              <a:ext cx="90574" cy="1583486"/>
              <a:chOff x="3805443" y="3434343"/>
              <a:chExt cx="90574" cy="1583486"/>
            </a:xfr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8" name="直接连接符 17"/>
              <p:cNvCxnSpPr/>
              <p:nvPr/>
            </p:nvCxnSpPr>
            <p:spPr>
              <a:xfrm flipH="1">
                <a:off x="3805443" y="3434343"/>
                <a:ext cx="650" cy="1583486"/>
              </a:xfrm>
              <a:prstGeom prst="line">
                <a:avLst/>
              </a:prstGeom>
              <a:grpFill/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 18"/>
              <p:cNvSpPr/>
              <p:nvPr/>
            </p:nvSpPr>
            <p:spPr>
              <a:xfrm>
                <a:off x="3816843" y="4619347"/>
                <a:ext cx="79174" cy="395871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4208963" y="4185283"/>
              <a:ext cx="3955954" cy="3163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 sz="1800" spc="0">
                  <a:solidFill>
                    <a:srgbClr val="000000"/>
                  </a:solidFill>
                </a:defRPr>
              </a:pPr>
              <a:endParaRPr lang="zh-CN" altLang="en-US" sz="1100" spc="24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4719345" y="3454243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20482" y="3435401"/>
            <a:ext cx="2420532" cy="783224"/>
            <a:chOff x="516192" y="3447159"/>
            <a:chExt cx="2420532" cy="783224"/>
          </a:xfrm>
        </p:grpSpPr>
        <p:sp>
          <p:nvSpPr>
            <p:cNvPr id="21" name="椭圆 20"/>
            <p:cNvSpPr/>
            <p:nvPr/>
          </p:nvSpPr>
          <p:spPr>
            <a:xfrm>
              <a:off x="2250721" y="3447159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888039" y="3861051"/>
              <a:ext cx="1048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2024.09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23" name="直接连接符 22"/>
            <p:cNvCxnSpPr>
              <a:endCxn id="21" idx="2"/>
            </p:cNvCxnSpPr>
            <p:nvPr/>
          </p:nvCxnSpPr>
          <p:spPr>
            <a:xfrm flipV="1">
              <a:off x="516192" y="3606398"/>
              <a:ext cx="1734529" cy="6179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5233619" y="1629995"/>
            <a:ext cx="6225973" cy="3598010"/>
            <a:chOff x="5449833" y="1593554"/>
            <a:chExt cx="6225973" cy="3598010"/>
          </a:xfrm>
        </p:grpSpPr>
        <p:sp>
          <p:nvSpPr>
            <p:cNvPr id="25" name="文本框 24"/>
            <p:cNvSpPr txBox="1"/>
            <p:nvPr/>
          </p:nvSpPr>
          <p:spPr>
            <a:xfrm>
              <a:off x="6897505" y="3863462"/>
              <a:ext cx="1048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2025.04</a:t>
              </a: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449833" y="1593554"/>
              <a:ext cx="1972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2024.12</a:t>
              </a:r>
              <a:r>
                <a: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cs typeface="+mn-ea"/>
                  <a:sym typeface="+mn-lt"/>
                </a:rPr>
                <a:t>（待定）</a:t>
              </a: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8534591" y="3607233"/>
              <a:ext cx="81329" cy="1584331"/>
              <a:chOff x="7819241" y="3438724"/>
              <a:chExt cx="81329" cy="1584331"/>
            </a:xfr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3" name="直接连接符 32"/>
              <p:cNvCxnSpPr/>
              <p:nvPr/>
            </p:nvCxnSpPr>
            <p:spPr>
              <a:xfrm flipH="1">
                <a:off x="7819241" y="3438724"/>
                <a:ext cx="650" cy="1583486"/>
              </a:xfrm>
              <a:prstGeom prst="line">
                <a:avLst/>
              </a:prstGeom>
              <a:grpFill/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矩形 33"/>
              <p:cNvSpPr/>
              <p:nvPr/>
            </p:nvSpPr>
            <p:spPr>
              <a:xfrm>
                <a:off x="7821396" y="4627184"/>
                <a:ext cx="79174" cy="395871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7000803" y="4148653"/>
              <a:ext cx="2985392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50000"/>
                </a:lnSpc>
                <a:defRPr sz="1800" spc="0">
                  <a:solidFill>
                    <a:srgbClr val="000000"/>
                  </a:solidFill>
                </a:defRPr>
              </a:pPr>
              <a:r>
                <a:rPr lang="zh-CN" altLang="en-US" b="1" spc="24" dirty="0">
                  <a:solidFill>
                    <a:prstClr val="black"/>
                  </a:solidFill>
                  <a:cs typeface="+mn-ea"/>
                  <a:sym typeface="+mn-lt"/>
                </a:rPr>
                <a:t>夜灯节</a:t>
              </a:r>
            </a:p>
          </p:txBody>
        </p:sp>
        <p:sp>
          <p:nvSpPr>
            <p:cNvPr id="29" name="椭圆 28"/>
            <p:cNvSpPr/>
            <p:nvPr/>
          </p:nvSpPr>
          <p:spPr>
            <a:xfrm>
              <a:off x="7187969" y="3454243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9656593" y="3453338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31" name="直接连接符 30"/>
            <p:cNvCxnSpPr>
              <a:stCxn id="29" idx="6"/>
              <a:endCxn id="30" idx="2"/>
            </p:cNvCxnSpPr>
            <p:nvPr/>
          </p:nvCxnSpPr>
          <p:spPr>
            <a:xfrm flipV="1">
              <a:off x="7506446" y="3612577"/>
              <a:ext cx="2150147" cy="905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30" idx="6"/>
            </p:cNvCxnSpPr>
            <p:nvPr/>
          </p:nvCxnSpPr>
          <p:spPr>
            <a:xfrm>
              <a:off x="9975070" y="3612577"/>
              <a:ext cx="1700736" cy="0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框 34"/>
          <p:cNvSpPr txBox="1"/>
          <p:nvPr/>
        </p:nvSpPr>
        <p:spPr>
          <a:xfrm>
            <a:off x="1179493" y="854630"/>
            <a:ext cx="4605748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defRPr/>
            </a:pPr>
            <a:r>
              <a:rPr lang="en-US" altLang="zh-CN" sz="3600" b="1" spc="600">
                <a:cs typeface="+mn-ea"/>
                <a:sym typeface="+mn-lt"/>
              </a:rPr>
              <a:t>24-25</a:t>
            </a:r>
            <a:r>
              <a:rPr lang="zh-CN" altLang="en-US" sz="3600" b="1" spc="600">
                <a:cs typeface="+mn-ea"/>
                <a:sym typeface="+mn-lt"/>
              </a:rPr>
              <a:t>社团行事历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3514D42-FEF4-E3D2-E780-D6546D80BE3F}"/>
              </a:ext>
            </a:extLst>
          </p:cNvPr>
          <p:cNvSpPr txBox="1"/>
          <p:nvPr/>
        </p:nvSpPr>
        <p:spPr>
          <a:xfrm>
            <a:off x="1887506" y="4218625"/>
            <a:ext cx="2107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/>
              <a:t>百团大战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C63294-4304-1E35-9D02-04560B180805}"/>
              </a:ext>
            </a:extLst>
          </p:cNvPr>
          <p:cNvSpPr txBox="1"/>
          <p:nvPr/>
        </p:nvSpPr>
        <p:spPr>
          <a:xfrm>
            <a:off x="4280547" y="4230383"/>
            <a:ext cx="1455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/>
              <a:t>社团嘉年华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CE87EE-30A4-08BA-8E77-3FD8F9E793FB}"/>
              </a:ext>
            </a:extLst>
          </p:cNvPr>
          <p:cNvSpPr txBox="1"/>
          <p:nvPr/>
        </p:nvSpPr>
        <p:spPr>
          <a:xfrm>
            <a:off x="5604096" y="1223839"/>
            <a:ext cx="163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/>
              <a:t>年度考核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3337E98-FEF4-4478-66E3-8155B3D42CB5}"/>
              </a:ext>
            </a:extLst>
          </p:cNvPr>
          <p:cNvSpPr txBox="1"/>
          <p:nvPr/>
        </p:nvSpPr>
        <p:spPr>
          <a:xfrm>
            <a:off x="7533036" y="3884446"/>
            <a:ext cx="92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/>
              <a:t>（待定）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1A6EFFC-ED86-6F55-2709-B5B43161C4DC}"/>
              </a:ext>
            </a:extLst>
          </p:cNvPr>
          <p:cNvSpPr txBox="1"/>
          <p:nvPr/>
        </p:nvSpPr>
        <p:spPr>
          <a:xfrm>
            <a:off x="3182385" y="5245325"/>
            <a:ext cx="1937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2024.10</a:t>
            </a:r>
          </a:p>
          <a:p>
            <a:r>
              <a:rPr kumimoji="1" lang="zh-CN" altLang="en-US" b="1"/>
              <a:t>社团注册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73296BF-4944-E8AF-DC43-8E33D2E3FF75}"/>
              </a:ext>
            </a:extLst>
          </p:cNvPr>
          <p:cNvSpPr txBox="1"/>
          <p:nvPr/>
        </p:nvSpPr>
        <p:spPr>
          <a:xfrm>
            <a:off x="7931453" y="5288186"/>
            <a:ext cx="1222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2025.07</a:t>
            </a:r>
          </a:p>
          <a:p>
            <a:r>
              <a:rPr kumimoji="1" lang="zh-CN" altLang="en-US" b="1"/>
              <a:t>社团年审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4DED738-773D-116D-7039-7E4E972A85DF}"/>
              </a:ext>
            </a:extLst>
          </p:cNvPr>
          <p:cNvSpPr txBox="1"/>
          <p:nvPr/>
        </p:nvSpPr>
        <p:spPr>
          <a:xfrm>
            <a:off x="9193062" y="3895908"/>
            <a:ext cx="2282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时间待定</a:t>
            </a:r>
            <a:endParaRPr kumimoji="1" lang="en-US" altLang="zh-CN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6068048-7EB5-3208-5DB1-CF02D4EAEFFE}"/>
              </a:ext>
            </a:extLst>
          </p:cNvPr>
          <p:cNvSpPr txBox="1"/>
          <p:nvPr/>
        </p:nvSpPr>
        <p:spPr>
          <a:xfrm>
            <a:off x="9213161" y="4290477"/>
            <a:ext cx="1554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社长交流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73C10-3C02-6F2E-C05B-D96815414CC8}"/>
              </a:ext>
            </a:extLst>
          </p:cNvPr>
          <p:cNvSpPr>
            <a:spLocks noGrp="1"/>
          </p:cNvSpPr>
          <p:nvPr/>
        </p:nvSpPr>
        <p:spPr>
          <a:xfrm>
            <a:off x="1076755" y="1900071"/>
            <a:ext cx="9083245" cy="495792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rmAutofit fontScale="82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i="0" kern="120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3200" spc="167">
                <a:solidFill>
                  <a:schemeClr val="tx1"/>
                </a:solidFill>
                <a:latin typeface="Microsoft YaHei UI"/>
                <a:ea typeface="思源宋体-超粗体"/>
              </a:rPr>
              <a:t>社指中心</a:t>
            </a:r>
            <a:r>
              <a:rPr lang="en-US" altLang="zh-CN" sz="3200" spc="167" err="1">
                <a:solidFill>
                  <a:schemeClr val="tx1"/>
                </a:solidFill>
                <a:latin typeface="Microsoft YaHei UI"/>
                <a:ea typeface="思源宋体-超粗体"/>
              </a:rPr>
              <a:t>年</a:t>
            </a:r>
            <a:r>
              <a:rPr lang="zh-CN" altLang="en-US" sz="3200" spc="167">
                <a:solidFill>
                  <a:schemeClr val="tx1"/>
                </a:solidFill>
                <a:latin typeface="Microsoft YaHei UI"/>
                <a:ea typeface="思源宋体-超粗体"/>
              </a:rPr>
              <a:t>末</a:t>
            </a:r>
            <a:r>
              <a:rPr lang="en-US" altLang="zh-CN" sz="3200" spc="167">
                <a:solidFill>
                  <a:schemeClr val="tx1"/>
                </a:solidFill>
                <a:latin typeface="Microsoft YaHei UI"/>
                <a:ea typeface="思源宋体-超粗体"/>
              </a:rPr>
              <a:t>（12月）会进行社团考核，考核结果关系到社团的星级评定、筹备社团转正以及正式社团的存留问题</a:t>
            </a:r>
            <a:r>
              <a:rPr lang="zh-CN" altLang="en-US" sz="3200">
                <a:solidFill>
                  <a:schemeClr val="tx1"/>
                </a:solidFill>
                <a:latin typeface="Microsoft YaHei UI"/>
                <a:ea typeface="Microsoft YaHei UI"/>
              </a:rPr>
              <a:t>。</a:t>
            </a:r>
            <a:br>
              <a:rPr lang="zh-CN" altLang="en-US" sz="3200"/>
            </a:br>
            <a:r>
              <a:rPr lang="zh-CN" altLang="en-US" sz="3200">
                <a:solidFill>
                  <a:schemeClr val="tx1"/>
                </a:solidFill>
                <a:latin typeface="Microsoft YaHei UI"/>
                <a:ea typeface="Microsoft YaHei UI"/>
              </a:rPr>
              <a:t>其中分数由两部分组成。</a:t>
            </a:r>
            <a:br>
              <a:rPr lang="en-US" altLang="zh-CN" sz="3200"/>
            </a:br>
            <a:endParaRPr lang="en-US" altLang="zh-CN" sz="3200"/>
          </a:p>
          <a:p>
            <a:pPr>
              <a:lnSpc>
                <a:spcPct val="120000"/>
              </a:lnSpc>
            </a:pPr>
            <a:r>
              <a:rPr lang="zh-CN" altLang="en-US" sz="3200">
                <a:solidFill>
                  <a:srgbClr val="0070C0"/>
                </a:solidFill>
                <a:latin typeface="Microsoft YaHei UI"/>
                <a:ea typeface="Microsoft YaHei UI"/>
              </a:rPr>
              <a:t>日常运营（</a:t>
            </a:r>
            <a:r>
              <a:rPr lang="en-US" altLang="zh-CN" sz="3200">
                <a:solidFill>
                  <a:srgbClr val="0070C0"/>
                </a:solidFill>
                <a:latin typeface="Microsoft YaHei UI"/>
                <a:ea typeface="Microsoft YaHei UI"/>
              </a:rPr>
              <a:t>40%</a:t>
            </a:r>
            <a:r>
              <a:rPr lang="zh-CN" altLang="en-US" sz="3200">
                <a:solidFill>
                  <a:srgbClr val="0070C0"/>
                </a:solidFill>
                <a:latin typeface="Microsoft YaHei UI"/>
                <a:ea typeface="Microsoft YaHei UI"/>
              </a:rPr>
              <a:t>）</a:t>
            </a:r>
            <a:br>
              <a:rPr lang="en-US" altLang="zh-CN" sz="3200"/>
            </a:br>
            <a:r>
              <a:rPr lang="en-US" altLang="zh-CN" sz="3200">
                <a:solidFill>
                  <a:schemeClr val="tx1"/>
                </a:solidFill>
                <a:latin typeface="Microsoft YaHei UI"/>
                <a:ea typeface="Microsoft YaHei UI"/>
              </a:rPr>
              <a:t>1.</a:t>
            </a:r>
            <a:r>
              <a:rPr lang="zh-CN" altLang="en-US" sz="3200">
                <a:solidFill>
                  <a:schemeClr val="tx1"/>
                </a:solidFill>
                <a:latin typeface="Microsoft YaHei UI"/>
                <a:ea typeface="Microsoft YaHei UI"/>
              </a:rPr>
              <a:t>社团平时考核评分细则（扣分制）</a:t>
            </a:r>
            <a:br>
              <a:rPr lang="zh-CN" altLang="en-US" sz="3200"/>
            </a:br>
            <a:r>
              <a:rPr lang="en-US" altLang="zh-CN" sz="3200">
                <a:solidFill>
                  <a:schemeClr val="tx1"/>
                </a:solidFill>
                <a:latin typeface="Microsoft YaHei UI"/>
                <a:ea typeface="Microsoft YaHei UI"/>
              </a:rPr>
              <a:t>2.</a:t>
            </a:r>
            <a:r>
              <a:rPr lang="zh-CN" altLang="en-US" sz="3200">
                <a:solidFill>
                  <a:schemeClr val="tx1"/>
                </a:solidFill>
                <a:latin typeface="Microsoft YaHei UI"/>
                <a:ea typeface="Microsoft YaHei UI"/>
              </a:rPr>
              <a:t>面向全校的活动评分（由对接社指干事打分）</a:t>
            </a:r>
            <a:br>
              <a:rPr lang="zh-CN" altLang="en-US" sz="3200"/>
            </a:br>
            <a:br>
              <a:rPr lang="zh-CN" altLang="en-US" sz="3200"/>
            </a:br>
            <a:r>
              <a:rPr lang="zh-CN" altLang="en-US" sz="3200">
                <a:solidFill>
                  <a:srgbClr val="0070C0"/>
                </a:solidFill>
                <a:latin typeface="Microsoft YaHei UI"/>
                <a:ea typeface="Microsoft YaHei UI"/>
              </a:rPr>
              <a:t>年末社团答辩（</a:t>
            </a:r>
            <a:r>
              <a:rPr lang="en-US" altLang="zh-CN" sz="3200">
                <a:solidFill>
                  <a:srgbClr val="0070C0"/>
                </a:solidFill>
                <a:latin typeface="Microsoft YaHei UI"/>
                <a:ea typeface="Microsoft YaHei UI"/>
              </a:rPr>
              <a:t>60%</a:t>
            </a:r>
            <a:r>
              <a:rPr lang="zh-CN" altLang="en-US" sz="3200">
                <a:solidFill>
                  <a:srgbClr val="0070C0"/>
                </a:solidFill>
                <a:latin typeface="Microsoft YaHei UI"/>
                <a:ea typeface="Microsoft YaHei UI"/>
              </a:rPr>
              <a:t>）</a:t>
            </a:r>
            <a:br>
              <a:rPr lang="zh-CN" altLang="en-US" sz="3200"/>
            </a:br>
            <a:r>
              <a:rPr lang="zh-CN" altLang="en-US" sz="3200">
                <a:solidFill>
                  <a:schemeClr val="tx1"/>
                </a:solidFill>
                <a:latin typeface="Microsoft YaHei UI"/>
                <a:ea typeface="Microsoft YaHei UI"/>
              </a:rPr>
              <a:t>答辩时间在每年</a:t>
            </a:r>
            <a:r>
              <a:rPr lang="en-US" altLang="zh-CN" sz="3200">
                <a:solidFill>
                  <a:schemeClr val="tx1"/>
                </a:solidFill>
                <a:latin typeface="Microsoft YaHei UI"/>
                <a:ea typeface="Microsoft YaHei UI"/>
              </a:rPr>
              <a:t>12</a:t>
            </a:r>
            <a:r>
              <a:rPr lang="zh-CN" altLang="en-US" sz="3200">
                <a:solidFill>
                  <a:schemeClr val="tx1"/>
                </a:solidFill>
                <a:latin typeface="Microsoft YaHei UI"/>
                <a:ea typeface="Microsoft YaHei UI"/>
              </a:rPr>
              <a:t>月下旬，就活动举办次数，活动影响力，社团特色等方面进行考核（具体要求另行通知）</a:t>
            </a:r>
            <a:br>
              <a:rPr lang="zh-CN" altLang="en-US" sz="2700"/>
            </a:br>
            <a:endParaRPr lang="zh-CN" altLang="en-US"/>
          </a:p>
        </p:txBody>
      </p:sp>
      <p:sp>
        <p:nvSpPr>
          <p:cNvPr id="3" name="文本框 3">
            <a:extLst>
              <a:ext uri="{FF2B5EF4-FFF2-40B4-BE49-F238E27FC236}">
                <a16:creationId xmlns:a16="http://schemas.microsoft.com/office/drawing/2014/main" id="{9B728341-A9F6-7D2E-8F3B-3F381BFDE817}"/>
              </a:ext>
            </a:extLst>
          </p:cNvPr>
          <p:cNvSpPr txBox="1"/>
          <p:nvPr/>
        </p:nvSpPr>
        <p:spPr>
          <a:xfrm>
            <a:off x="1076755" y="1041400"/>
            <a:ext cx="32681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b="1" dirty="0"/>
              <a:t>年末考核</a:t>
            </a:r>
          </a:p>
        </p:txBody>
      </p:sp>
    </p:spTree>
    <p:extLst>
      <p:ext uri="{BB962C8B-B14F-4D97-AF65-F5344CB8AC3E}">
        <p14:creationId xmlns:p14="http://schemas.microsoft.com/office/powerpoint/2010/main" val="305470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2">
            <a:extLst>
              <a:ext uri="{FF2B5EF4-FFF2-40B4-BE49-F238E27FC236}">
                <a16:creationId xmlns:a16="http://schemas.microsoft.com/office/drawing/2014/main" id="{5E0D3A38-68C9-ABAF-6F3D-0AC5D88832B3}"/>
              </a:ext>
            </a:extLst>
          </p:cNvPr>
          <p:cNvSpPr>
            <a:spLocks noGrp="1"/>
          </p:cNvSpPr>
          <p:nvPr/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rtl="0"/>
            <a:r>
              <a:rPr lang="zh-CN" altLang="en-US">
                <a:solidFill>
                  <a:schemeClr val="tx1"/>
                </a:solidFill>
                <a:latin typeface="Microsoft YaHei UI"/>
                <a:ea typeface="Microsoft YaHei UI"/>
              </a:rPr>
              <a:t>日常运营</a:t>
            </a: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7D723292-E475-CD5B-82BC-78DCF36FFB33}"/>
              </a:ext>
            </a:extLst>
          </p:cNvPr>
          <p:cNvSpPr txBox="1"/>
          <p:nvPr/>
        </p:nvSpPr>
        <p:spPr>
          <a:xfrm>
            <a:off x="828556" y="1838532"/>
            <a:ext cx="3526520" cy="35916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600"/>
              </a:lnSpc>
            </a:pPr>
            <a:r>
              <a:rPr lang="en-US" altLang="zh-CN" sz="2400" b="1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筹备社团</a:t>
            </a:r>
            <a:endParaRPr lang="en-US" altLang="zh-CN" sz="2400" b="1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4200"/>
              </a:lnSpc>
            </a:pPr>
            <a:r>
              <a:rPr lang="en-US" altLang="zh-CN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前80%可转正       </a:t>
            </a:r>
          </a:p>
          <a:p>
            <a:pPr>
              <a:lnSpc>
                <a:spcPts val="4200"/>
              </a:lnSpc>
            </a:pPr>
            <a:r>
              <a:rPr lang="en-US" altLang="zh-CN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后20%失去筹备社团资格​</a:t>
            </a:r>
          </a:p>
          <a:p>
            <a:pPr>
              <a:lnSpc>
                <a:spcPts val="5600"/>
              </a:lnSpc>
            </a:pPr>
            <a:r>
              <a:rPr lang="en-US" altLang="zh-CN" sz="2400" b="1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正式社团</a:t>
            </a:r>
            <a:r>
              <a:rPr lang="en-US" altLang="zh-CN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</a:p>
          <a:p>
            <a:pPr>
              <a:lnSpc>
                <a:spcPts val="4200"/>
              </a:lnSpc>
            </a:pPr>
            <a:r>
              <a:rPr lang="en-US" altLang="zh-CN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后10%失去正式社团资格</a:t>
            </a:r>
          </a:p>
          <a:p>
            <a:pPr>
              <a:lnSpc>
                <a:spcPts val="4200"/>
              </a:lnSpc>
            </a:pPr>
            <a:r>
              <a:rPr lang="zh-CN" altLang="en-US" sz="2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优秀社团能够升星，反之降星</a:t>
            </a:r>
            <a:endParaRPr lang="en-US" altLang="zh-CN" sz="24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FA3158-A84B-7F0C-CB72-73833BC46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543" y="0"/>
            <a:ext cx="6486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8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1B4E2C93-7D01-12A9-57F7-A8A14270D3F0}"/>
              </a:ext>
            </a:extLst>
          </p:cNvPr>
          <p:cNvSpPr txBox="1"/>
          <p:nvPr/>
        </p:nvSpPr>
        <p:spPr>
          <a:xfrm>
            <a:off x="994095" y="973015"/>
            <a:ext cx="6098796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b="1"/>
              <a:t>社团荣誉和社会工作荣誉</a:t>
            </a: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8B06D17D-1126-B1EC-A7EE-1645FC0AA8A1}"/>
              </a:ext>
            </a:extLst>
          </p:cNvPr>
          <p:cNvSpPr txBox="1"/>
          <p:nvPr/>
        </p:nvSpPr>
        <p:spPr>
          <a:xfrm>
            <a:off x="880844" y="2093106"/>
            <a:ext cx="10075178" cy="42780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solidFill>
                  <a:srgbClr val="0070C0"/>
                </a:solidFill>
              </a:rPr>
              <a:t>社团荣誉：</a:t>
            </a:r>
            <a:endParaRPr lang="en-US" altLang="zh-CN" sz="2000" b="1">
              <a:solidFill>
                <a:srgbClr val="0070C0"/>
              </a:solidFill>
            </a:endParaRPr>
          </a:p>
          <a:p>
            <a:r>
              <a:rPr lang="zh-CN" altLang="en-US" sz="2000">
                <a:solidFill>
                  <a:srgbClr val="0070C0"/>
                </a:solidFill>
              </a:rPr>
              <a:t>校区级：国际校区优秀社团（年终考核）。</a:t>
            </a:r>
            <a:endParaRPr lang="en-US" altLang="zh-CN" sz="2000">
              <a:solidFill>
                <a:srgbClr val="0070C0"/>
              </a:solidFill>
            </a:endParaRPr>
          </a:p>
          <a:p>
            <a:r>
              <a:rPr lang="zh-CN" altLang="en-US" sz="2000">
                <a:solidFill>
                  <a:srgbClr val="0070C0"/>
                </a:solidFill>
              </a:rPr>
              <a:t>校级：星级社团（</a:t>
            </a:r>
            <a:r>
              <a:rPr lang="en-US" altLang="zh-CN" sz="2000">
                <a:solidFill>
                  <a:srgbClr val="0070C0"/>
                </a:solidFill>
              </a:rPr>
              <a:t>12345</a:t>
            </a:r>
            <a:r>
              <a:rPr lang="zh-CN" altLang="en-US" sz="2000">
                <a:solidFill>
                  <a:srgbClr val="0070C0"/>
                </a:solidFill>
              </a:rPr>
              <a:t>星社团每两年评选一次）、十佳社团（每年评选一次，国际校区至今无一社团入选）</a:t>
            </a:r>
            <a:r>
              <a:rPr lang="en-US" altLang="zh-CN" sz="2000">
                <a:solidFill>
                  <a:srgbClr val="0070C0"/>
                </a:solidFill>
              </a:rPr>
              <a:t>…</a:t>
            </a:r>
            <a:r>
              <a:rPr lang="zh-CN" altLang="en-US" sz="2000">
                <a:solidFill>
                  <a:srgbClr val="0070C0"/>
                </a:solidFill>
              </a:rPr>
              <a:t>等。</a:t>
            </a:r>
            <a:endParaRPr lang="en-US" altLang="zh-CN" sz="2000">
              <a:solidFill>
                <a:srgbClr val="0070C0"/>
              </a:solidFill>
            </a:endParaRPr>
          </a:p>
          <a:p>
            <a:endParaRPr lang="en-US" altLang="zh-CN" sz="2000" b="1">
              <a:solidFill>
                <a:srgbClr val="0070C0"/>
              </a:solidFill>
            </a:endParaRPr>
          </a:p>
          <a:p>
            <a:r>
              <a:rPr lang="zh-CN" altLang="en-US" sz="2000" b="1">
                <a:solidFill>
                  <a:srgbClr val="0070C0"/>
                </a:solidFill>
              </a:rPr>
              <a:t>社团负责人（社长）荣誉：</a:t>
            </a:r>
            <a:endParaRPr lang="en-US" altLang="zh-CN" sz="2000" b="1">
              <a:solidFill>
                <a:srgbClr val="0070C0"/>
              </a:solidFill>
            </a:endParaRPr>
          </a:p>
          <a:p>
            <a:r>
              <a:rPr lang="zh-CN" altLang="en-US" sz="2000">
                <a:solidFill>
                  <a:srgbClr val="0070C0"/>
                </a:solidFill>
              </a:rPr>
              <a:t>校区级：国际校区优秀社长（直接入选社会工作标兵）每年</a:t>
            </a:r>
            <a:r>
              <a:rPr lang="en-US" altLang="zh-CN" sz="2000">
                <a:solidFill>
                  <a:srgbClr val="0070C0"/>
                </a:solidFill>
              </a:rPr>
              <a:t>8</a:t>
            </a:r>
            <a:r>
              <a:rPr lang="zh-CN" altLang="en-US" sz="2000">
                <a:solidFill>
                  <a:srgbClr val="0070C0"/>
                </a:solidFill>
              </a:rPr>
              <a:t>月考核。</a:t>
            </a:r>
            <a:endParaRPr lang="en-US" altLang="zh-CN" sz="2000">
              <a:solidFill>
                <a:srgbClr val="0070C0"/>
              </a:solidFill>
            </a:endParaRPr>
          </a:p>
          <a:p>
            <a:r>
              <a:rPr lang="zh-CN" altLang="en-US" sz="2000">
                <a:solidFill>
                  <a:srgbClr val="0070C0"/>
                </a:solidFill>
              </a:rPr>
              <a:t>校级：十佳社团人（每年一次）、社会工作标兵</a:t>
            </a:r>
            <a:r>
              <a:rPr lang="en-US" altLang="zh-CN" sz="2000">
                <a:solidFill>
                  <a:srgbClr val="0070C0"/>
                </a:solidFill>
              </a:rPr>
              <a:t>…</a:t>
            </a:r>
            <a:r>
              <a:rPr lang="zh-CN" altLang="en-US" sz="2000">
                <a:solidFill>
                  <a:srgbClr val="0070C0"/>
                </a:solidFill>
              </a:rPr>
              <a:t>等</a:t>
            </a:r>
            <a:endParaRPr lang="en-US" altLang="zh-CN" sz="2000">
              <a:solidFill>
                <a:srgbClr val="0070C0"/>
              </a:solidFill>
            </a:endParaRPr>
          </a:p>
          <a:p>
            <a:endParaRPr lang="en-US" altLang="zh-CN" sz="2800">
              <a:solidFill>
                <a:srgbClr val="C00000"/>
              </a:solidFill>
            </a:endParaRPr>
          </a:p>
          <a:p>
            <a:r>
              <a:rPr lang="zh-CN" altLang="en-US" sz="2800">
                <a:solidFill>
                  <a:srgbClr val="C00000"/>
                </a:solidFill>
              </a:rPr>
              <a:t>获得“校区优秀社团”称号的社团将在下一学期获得额外经费</a:t>
            </a:r>
            <a:endParaRPr lang="en-US" altLang="zh-CN" sz="2800">
              <a:solidFill>
                <a:srgbClr val="C00000"/>
              </a:solidFill>
            </a:endParaRPr>
          </a:p>
          <a:p>
            <a:r>
              <a:rPr lang="en-US" altLang="zh-CN" sz="2800">
                <a:solidFill>
                  <a:srgbClr val="C00000"/>
                </a:solidFill>
              </a:rPr>
              <a:t>if</a:t>
            </a:r>
            <a:r>
              <a:rPr lang="zh-CN" altLang="en-US" sz="2800">
                <a:solidFill>
                  <a:srgbClr val="C00000"/>
                </a:solidFill>
              </a:rPr>
              <a:t>获得“</a:t>
            </a:r>
            <a:r>
              <a:rPr lang="en-US" altLang="zh-CN" sz="2800">
                <a:solidFill>
                  <a:srgbClr val="C00000"/>
                </a:solidFill>
              </a:rPr>
              <a:t>5</a:t>
            </a:r>
            <a:r>
              <a:rPr lang="zh-CN" altLang="en-US" sz="2800">
                <a:solidFill>
                  <a:srgbClr val="C00000"/>
                </a:solidFill>
              </a:rPr>
              <a:t>星社团”、“十佳社团”称号的社团将获得大量经费支持奖励</a:t>
            </a:r>
          </a:p>
        </p:txBody>
      </p:sp>
    </p:spTree>
    <p:extLst>
      <p:ext uri="{BB962C8B-B14F-4D97-AF65-F5344CB8AC3E}">
        <p14:creationId xmlns:p14="http://schemas.microsoft.com/office/powerpoint/2010/main" val="3031777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2"/>
          <p:cNvSpPr txBox="1"/>
          <p:nvPr>
            <p:custDataLst>
              <p:tags r:id="rId1"/>
            </p:custDataLst>
          </p:nvPr>
        </p:nvSpPr>
        <p:spPr>
          <a:xfrm>
            <a:off x="3048195" y="2594641"/>
            <a:ext cx="5704723" cy="1102484"/>
          </a:xfrm>
          <a:prstGeom prst="rect">
            <a:avLst/>
          </a:prstGeom>
          <a:noFill/>
        </p:spPr>
        <p:txBody>
          <a:bodyPr wrap="square" lIns="85983" tIns="42991" rIns="85983" bIns="42991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6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活动与流程​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C191C5CD-7EBF-40A0-33B3-A41E101A2120}"/>
              </a:ext>
            </a:extLst>
          </p:cNvPr>
          <p:cNvSpPr>
            <a:spLocks noGrp="1"/>
          </p:cNvSpPr>
          <p:nvPr/>
        </p:nvSpPr>
        <p:spPr>
          <a:xfrm>
            <a:off x="615744" y="663091"/>
            <a:ext cx="4538078" cy="92295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rtl="0"/>
            <a:r>
              <a:rPr lang="zh-CN" altLang="en-US" sz="4000">
                <a:solidFill>
                  <a:schemeClr val="tx1"/>
                </a:solidFill>
                <a:latin typeface="Microsoft YaHei UI"/>
                <a:ea typeface="Microsoft YaHei UI"/>
              </a:rPr>
              <a:t>确定活动类型</a:t>
            </a:r>
          </a:p>
        </p:txBody>
      </p:sp>
      <p:pic>
        <p:nvPicPr>
          <p:cNvPr id="4" name="图片 3" descr="文本&#10;&#10;已自动生成说明">
            <a:extLst>
              <a:ext uri="{FF2B5EF4-FFF2-40B4-BE49-F238E27FC236}">
                <a16:creationId xmlns:a16="http://schemas.microsoft.com/office/drawing/2014/main" id="{8A024C05-5C4B-8958-8E30-D7851BDB4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95" y="2105211"/>
            <a:ext cx="81534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57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71E40-DAB0-D201-4AF8-D4137FEA0FB9}"/>
              </a:ext>
            </a:extLst>
          </p:cNvPr>
          <p:cNvSpPr>
            <a:spLocks noGrp="1"/>
          </p:cNvSpPr>
          <p:nvPr/>
        </p:nvSpPr>
        <p:spPr>
          <a:xfrm>
            <a:off x="962698" y="587992"/>
            <a:ext cx="4538078" cy="92295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rtl="0"/>
            <a:r>
              <a:rPr lang="zh-CN" altLang="en-US" sz="4000">
                <a:solidFill>
                  <a:schemeClr val="tx1"/>
                </a:solidFill>
                <a:latin typeface="Microsoft YaHei UI"/>
                <a:ea typeface="Microsoft YaHei UI"/>
              </a:rPr>
              <a:t>关于线上审批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B7321E-83F5-8CE4-E894-396E9F936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201" y="1824461"/>
            <a:ext cx="7306347" cy="427834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FE4F962-4657-D4D7-BB48-19FDA9FC697C}"/>
              </a:ext>
            </a:extLst>
          </p:cNvPr>
          <p:cNvSpPr/>
          <p:nvPr/>
        </p:nvSpPr>
        <p:spPr>
          <a:xfrm>
            <a:off x="5450066" y="4360053"/>
            <a:ext cx="2210305" cy="2180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DA8043EC-73BC-EB70-55A8-31F1452E9D1D}"/>
              </a:ext>
            </a:extLst>
          </p:cNvPr>
          <p:cNvSpPr txBox="1"/>
          <p:nvPr/>
        </p:nvSpPr>
        <p:spPr>
          <a:xfrm>
            <a:off x="4926254" y="903327"/>
            <a:ext cx="443575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/>
              <a:t>这是线上审批的网站：</a:t>
            </a:r>
            <a:endParaRPr lang="en-US" altLang="zh-CN" b="1"/>
          </a:p>
          <a:p>
            <a:r>
              <a:rPr lang="en-US" altLang="zh-CN" b="1"/>
              <a:t>https://www.intl.zju.edu.cn/my-zju/zh-hans/wangshangbanshi</a:t>
            </a:r>
            <a:endParaRPr lang="zh-CN" altLang="en-US" b="1"/>
          </a:p>
        </p:txBody>
      </p:sp>
      <p:sp>
        <p:nvSpPr>
          <p:cNvPr id="6" name="文本框 14">
            <a:extLst>
              <a:ext uri="{FF2B5EF4-FFF2-40B4-BE49-F238E27FC236}">
                <a16:creationId xmlns:a16="http://schemas.microsoft.com/office/drawing/2014/main" id="{55046BE3-B0FE-2D70-361F-A97EF5450827}"/>
              </a:ext>
            </a:extLst>
          </p:cNvPr>
          <p:cNvSpPr txBox="1"/>
          <p:nvPr/>
        </p:nvSpPr>
        <p:spPr>
          <a:xfrm>
            <a:off x="7367407" y="5892939"/>
            <a:ext cx="4363081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highlight>
                  <a:srgbClr val="FFFF00"/>
                </a:highlight>
              </a:rPr>
              <a:t>另外需要接电的户外活动、需要用到多功能厅或学术大讲堂的活动也需要使用该线上审批</a:t>
            </a:r>
          </a:p>
        </p:txBody>
      </p:sp>
    </p:spTree>
    <p:extLst>
      <p:ext uri="{BB962C8B-B14F-4D97-AF65-F5344CB8AC3E}">
        <p14:creationId xmlns:p14="http://schemas.microsoft.com/office/powerpoint/2010/main" val="4097510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>
            <a:extLst>
              <a:ext uri="{FF2B5EF4-FFF2-40B4-BE49-F238E27FC236}">
                <a16:creationId xmlns:a16="http://schemas.microsoft.com/office/drawing/2014/main" id="{F3FE7D71-F252-F7E2-94EB-E0A7A08CED23}"/>
              </a:ext>
            </a:extLst>
          </p:cNvPr>
          <p:cNvSpPr>
            <a:spLocks noGrp="1"/>
          </p:cNvSpPr>
          <p:nvPr/>
        </p:nvSpPr>
        <p:spPr>
          <a:xfrm>
            <a:off x="886113" y="1095749"/>
            <a:ext cx="6127137" cy="614964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i="0" kern="120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4000" b="1">
                <a:solidFill>
                  <a:schemeClr val="tx1"/>
                </a:solidFill>
                <a:latin typeface="Microsoft YaHei UI"/>
                <a:ea typeface="Microsoft YaHei UI"/>
              </a:rPr>
              <a:t>活动流程（日常对接）</a:t>
            </a: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A2ABDE8C-3563-EFAB-002C-DEF45E5990B8}"/>
              </a:ext>
            </a:extLst>
          </p:cNvPr>
          <p:cNvSpPr txBox="1"/>
          <p:nvPr/>
        </p:nvSpPr>
        <p:spPr>
          <a:xfrm>
            <a:off x="1521327" y="2353777"/>
            <a:ext cx="9767783" cy="307680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760"/>
              </a:lnSpc>
            </a:pPr>
            <a:r>
              <a:rPr lang="en-US" altLang="zh-CN" sz="2800" err="1">
                <a:solidFill>
                  <a:srgbClr val="000000"/>
                </a:solidFill>
                <a:latin typeface="黑体"/>
                <a:ea typeface="黑体"/>
              </a:rPr>
              <a:t>为了更好地开展社团活动</a:t>
            </a:r>
            <a:r>
              <a:rPr lang="en-US" altLang="zh-CN" sz="2800">
                <a:solidFill>
                  <a:srgbClr val="000000"/>
                </a:solidFill>
                <a:latin typeface="黑体"/>
                <a:ea typeface="黑体"/>
              </a:rPr>
              <a:t>，</a:t>
            </a:r>
            <a:r>
              <a:rPr lang="zh-CN" altLang="en-US" sz="2800">
                <a:solidFill>
                  <a:srgbClr val="000000"/>
                </a:solidFill>
                <a:latin typeface="黑体"/>
                <a:ea typeface="黑体"/>
              </a:rPr>
              <a:t>社指</a:t>
            </a:r>
            <a:r>
              <a:rPr lang="en-US" altLang="zh-CN" sz="2800" err="1">
                <a:solidFill>
                  <a:srgbClr val="000000"/>
                </a:solidFill>
                <a:latin typeface="黑体"/>
                <a:ea typeface="黑体"/>
              </a:rPr>
              <a:t>会安排</a:t>
            </a:r>
            <a:r>
              <a:rPr lang="en-US" altLang="zh-CN" sz="2800" err="1">
                <a:solidFill>
                  <a:srgbClr val="C00000"/>
                </a:solidFill>
                <a:latin typeface="黑体"/>
                <a:ea typeface="黑体"/>
              </a:rPr>
              <a:t>干事</a:t>
            </a:r>
            <a:r>
              <a:rPr lang="zh-CN" altLang="en-US" sz="2800">
                <a:solidFill>
                  <a:srgbClr val="C00000"/>
                </a:solidFill>
                <a:latin typeface="黑体"/>
                <a:ea typeface="黑体"/>
              </a:rPr>
              <a:t>与社团进行日常对接</a:t>
            </a:r>
            <a:r>
              <a:rPr lang="en-US" altLang="zh-CN" sz="2800">
                <a:solidFill>
                  <a:srgbClr val="000000"/>
                </a:solidFill>
                <a:latin typeface="黑体"/>
                <a:ea typeface="黑体"/>
              </a:rPr>
              <a:t>，</a:t>
            </a:r>
            <a:r>
              <a:rPr lang="en-US" altLang="zh-CN" sz="2800" err="1">
                <a:solidFill>
                  <a:srgbClr val="000000"/>
                </a:solidFill>
                <a:latin typeface="黑体"/>
                <a:ea typeface="黑体"/>
              </a:rPr>
              <a:t>以便及时传达各项重要事项、提醒各位社长查收</a:t>
            </a:r>
            <a:r>
              <a:rPr lang="zh-CN" altLang="en-US" sz="2800">
                <a:solidFill>
                  <a:srgbClr val="C00000"/>
                </a:solidFill>
                <a:latin typeface="黑体"/>
                <a:ea typeface="黑体"/>
              </a:rPr>
              <a:t>社长</a:t>
            </a:r>
            <a:r>
              <a:rPr lang="en-US" altLang="zh-CN" sz="2800" err="1">
                <a:solidFill>
                  <a:srgbClr val="C00000"/>
                </a:solidFill>
                <a:latin typeface="黑体"/>
                <a:ea typeface="黑体"/>
              </a:rPr>
              <a:t>群</a:t>
            </a:r>
            <a:r>
              <a:rPr lang="en-US" altLang="zh-CN" sz="2800" err="1">
                <a:solidFill>
                  <a:srgbClr val="000000"/>
                </a:solidFill>
                <a:latin typeface="黑体"/>
                <a:ea typeface="黑体"/>
              </a:rPr>
              <a:t>里的重要信息、解决社团疑难问题、各种表格资料对接。一对多社指干事会在</a:t>
            </a:r>
            <a:r>
              <a:rPr lang="zh-CN" altLang="en-US" sz="2800">
                <a:solidFill>
                  <a:srgbClr val="000000"/>
                </a:solidFill>
                <a:latin typeface="黑体"/>
                <a:ea typeface="黑体"/>
              </a:rPr>
              <a:t>下周之内</a:t>
            </a:r>
            <a:r>
              <a:rPr lang="en-US" altLang="zh-CN" sz="2800" err="1">
                <a:solidFill>
                  <a:srgbClr val="000000"/>
                </a:solidFill>
                <a:latin typeface="黑体"/>
                <a:ea typeface="黑体"/>
              </a:rPr>
              <a:t>与各位</a:t>
            </a:r>
            <a:r>
              <a:rPr lang="zh-CN" altLang="en-US" sz="2800">
                <a:solidFill>
                  <a:srgbClr val="000000"/>
                </a:solidFill>
                <a:latin typeface="黑体"/>
                <a:ea typeface="黑体"/>
              </a:rPr>
              <a:t>社长</a:t>
            </a:r>
            <a:r>
              <a:rPr lang="en-US" altLang="zh-CN" sz="2800" err="1">
                <a:solidFill>
                  <a:srgbClr val="000000"/>
                </a:solidFill>
                <a:latin typeface="黑体"/>
                <a:ea typeface="黑体"/>
              </a:rPr>
              <a:t>取得联系</a:t>
            </a:r>
            <a:r>
              <a:rPr lang="en-US" altLang="zh-CN" sz="2800">
                <a:solidFill>
                  <a:srgbClr val="000000"/>
                </a:solidFill>
                <a:latin typeface="黑体"/>
                <a:ea typeface="黑体"/>
              </a:rPr>
              <a:t>。</a:t>
            </a:r>
            <a:r>
              <a:rPr lang="zh-CN" altLang="en-US" sz="2800">
                <a:solidFill>
                  <a:srgbClr val="000000"/>
                </a:solidFill>
                <a:latin typeface="黑体"/>
                <a:ea typeface="黑体"/>
              </a:rPr>
              <a:t>届时</a:t>
            </a:r>
            <a:r>
              <a:rPr lang="en-US" altLang="zh-CN" sz="2800" err="1">
                <a:solidFill>
                  <a:srgbClr val="000000"/>
                </a:solidFill>
                <a:latin typeface="黑体"/>
                <a:ea typeface="黑体"/>
              </a:rPr>
              <a:t>未收到联系的</a:t>
            </a:r>
            <a:r>
              <a:rPr lang="zh-CN" altLang="en-US" sz="2800">
                <a:solidFill>
                  <a:srgbClr val="000000"/>
                </a:solidFill>
                <a:latin typeface="黑体"/>
                <a:ea typeface="黑体"/>
              </a:rPr>
              <a:t>社长，</a:t>
            </a:r>
            <a:r>
              <a:rPr lang="en-US" altLang="zh-CN" sz="2800" err="1">
                <a:solidFill>
                  <a:srgbClr val="000000"/>
                </a:solidFill>
                <a:latin typeface="黑体"/>
                <a:ea typeface="黑体"/>
              </a:rPr>
              <a:t>可私信五位指负责</a:t>
            </a:r>
            <a:r>
              <a:rPr lang="zh-CN" altLang="en-US" sz="2800">
                <a:solidFill>
                  <a:srgbClr val="000000"/>
                </a:solidFill>
                <a:latin typeface="黑体"/>
                <a:ea typeface="黑体"/>
              </a:rPr>
              <a:t>人。</a:t>
            </a:r>
            <a:endParaRPr lang="en-US" altLang="zh-CN" sz="2800">
              <a:solidFill>
                <a:srgbClr val="000000"/>
              </a:solidFill>
              <a:latin typeface="黑体"/>
              <a:ea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255614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41582" y="1923260"/>
            <a:ext cx="4828073" cy="1676533"/>
            <a:chOff x="5037822" y="1936949"/>
            <a:chExt cx="4828073" cy="1676533"/>
          </a:xfrm>
        </p:grpSpPr>
        <p:cxnSp>
          <p:nvCxnSpPr>
            <p:cNvPr id="7" name="直接连接符 6"/>
            <p:cNvCxnSpPr>
              <a:stCxn id="17" idx="6"/>
              <a:endCxn id="29" idx="2"/>
            </p:cNvCxnSpPr>
            <p:nvPr/>
          </p:nvCxnSpPr>
          <p:spPr>
            <a:xfrm>
              <a:off x="5037822" y="3613482"/>
              <a:ext cx="2150147" cy="0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6101116" y="2020357"/>
              <a:ext cx="85824" cy="1583486"/>
              <a:chOff x="5862564" y="1850857"/>
              <a:chExt cx="85824" cy="1583486"/>
            </a:xfr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0" name="直接连接符 9"/>
              <p:cNvCxnSpPr/>
              <p:nvPr/>
            </p:nvCxnSpPr>
            <p:spPr>
              <a:xfrm flipH="1" flipV="1">
                <a:off x="5862564" y="1850857"/>
                <a:ext cx="650" cy="1583486"/>
              </a:xfrm>
              <a:prstGeom prst="line">
                <a:avLst/>
              </a:prstGeom>
              <a:grpFill/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矩形 10"/>
              <p:cNvSpPr/>
              <p:nvPr/>
            </p:nvSpPr>
            <p:spPr>
              <a:xfrm flipV="1">
                <a:off x="5869214" y="1850857"/>
                <a:ext cx="79174" cy="395871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6209004" y="1936949"/>
              <a:ext cx="3656891" cy="78483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lvl="0">
                <a:lnSpc>
                  <a:spcPct val="150000"/>
                </a:lnSpc>
                <a:defRPr sz="1800" spc="0">
                  <a:solidFill>
                    <a:srgbClr val="000000"/>
                  </a:solidFill>
                </a:defRPr>
              </a:pPr>
              <a:r>
                <a:rPr lang="zh-CN" altLang="en-US" sz="1600" spc="24">
                  <a:latin typeface="SimHei"/>
                  <a:ea typeface="+mn-lt"/>
                  <a:cs typeface="+mn-ea"/>
                  <a:sym typeface="+mn-lt"/>
                </a:rPr>
                <a:t>审核通过后</a:t>
              </a:r>
              <a:r>
                <a:rPr lang="zh-CN" sz="1600" spc="24">
                  <a:latin typeface="SimHei"/>
                  <a:ea typeface="SimHei"/>
                  <a:cs typeface="+mn-ea"/>
                  <a:sym typeface="+mn-lt"/>
                </a:rPr>
                <a:t>，交由社团指导老师审核签字，可以直接打印电子版签名</a:t>
              </a:r>
              <a:endParaRPr lang="zh-CN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172958" y="3070518"/>
            <a:ext cx="5225234" cy="2248409"/>
            <a:chOff x="2569198" y="3084207"/>
            <a:chExt cx="5225234" cy="2248409"/>
          </a:xfrm>
        </p:grpSpPr>
        <p:cxnSp>
          <p:nvCxnSpPr>
            <p:cNvPr id="13" name="直接连接符 12"/>
            <p:cNvCxnSpPr>
              <a:cxnSpLocks/>
              <a:endCxn id="17" idx="2"/>
            </p:cNvCxnSpPr>
            <p:nvPr/>
          </p:nvCxnSpPr>
          <p:spPr>
            <a:xfrm>
              <a:off x="2569198" y="3606398"/>
              <a:ext cx="2150147" cy="7084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/>
            <p:cNvSpPr txBox="1"/>
            <p:nvPr/>
          </p:nvSpPr>
          <p:spPr>
            <a:xfrm>
              <a:off x="3158455" y="3084207"/>
              <a:ext cx="877164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marL="0" marR="0" lvl="0" indent="0" algn="ctr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b="1">
                  <a:solidFill>
                    <a:srgbClr val="000000"/>
                  </a:solidFill>
                  <a:latin typeface="Microsoft YaHei"/>
                  <a:ea typeface="Microsoft YaHei"/>
                  <a:cs typeface="+mn-ea"/>
                </a:rPr>
                <a:t>活动前</a:t>
              </a: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3703672" y="3615673"/>
              <a:ext cx="90574" cy="1583486"/>
              <a:chOff x="3805443" y="3434343"/>
              <a:chExt cx="90574" cy="1583486"/>
            </a:xfr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8" name="直接连接符 17"/>
              <p:cNvCxnSpPr/>
              <p:nvPr/>
            </p:nvCxnSpPr>
            <p:spPr>
              <a:xfrm flipH="1">
                <a:off x="3805443" y="3434343"/>
                <a:ext cx="650" cy="1583486"/>
              </a:xfrm>
              <a:prstGeom prst="line">
                <a:avLst/>
              </a:prstGeom>
              <a:grpFill/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 18"/>
              <p:cNvSpPr/>
              <p:nvPr/>
            </p:nvSpPr>
            <p:spPr>
              <a:xfrm>
                <a:off x="3816843" y="4619347"/>
                <a:ext cx="79174" cy="395871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3838478" y="4547786"/>
              <a:ext cx="3955954" cy="78483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lvl="0">
                <a:lnSpc>
                  <a:spcPct val="150000"/>
                </a:lnSpc>
                <a:defRPr sz="1800" spc="0">
                  <a:solidFill>
                    <a:srgbClr val="000000"/>
                  </a:solidFill>
                </a:defRPr>
              </a:pPr>
              <a:r>
                <a:rPr lang="zh-CN" altLang="en-US" sz="1600" spc="24">
                  <a:solidFill>
                    <a:srgbClr val="0070C0"/>
                  </a:solidFill>
                  <a:latin typeface="SimHei"/>
                  <a:ea typeface="+mn-lt"/>
                  <a:cs typeface="+mn-ea"/>
                  <a:sym typeface="+mn-lt"/>
                </a:rPr>
                <a:t>活动前</a:t>
              </a:r>
              <a:r>
                <a:rPr lang="zh-CN" sz="1600" spc="24">
                  <a:solidFill>
                    <a:srgbClr val="0070C0"/>
                  </a:solidFill>
                  <a:latin typeface="SimHei"/>
                  <a:ea typeface="SimHei"/>
                  <a:cs typeface="+mn-ea"/>
                  <a:sym typeface="+mn-lt"/>
                </a:rPr>
                <a:t>至少</a:t>
              </a:r>
              <a:r>
                <a:rPr lang="en-US" altLang="zh-CN" sz="1600" spc="24">
                  <a:solidFill>
                    <a:srgbClr val="0070C0"/>
                  </a:solidFill>
                  <a:latin typeface="SimHei"/>
                  <a:ea typeface="+mn-lt"/>
                  <a:cs typeface="+mn-ea"/>
                  <a:sym typeface="+mn-lt"/>
                </a:rPr>
                <a:t>5</a:t>
              </a:r>
              <a:r>
                <a:rPr lang="zh-CN" altLang="en-US" sz="1600" spc="24">
                  <a:solidFill>
                    <a:srgbClr val="0070C0"/>
                  </a:solidFill>
                  <a:latin typeface="SimHei"/>
                  <a:ea typeface="+mn-lt"/>
                  <a:cs typeface="+mn-ea"/>
                  <a:sym typeface="+mn-lt"/>
                </a:rPr>
                <a:t>天</a:t>
              </a:r>
              <a:r>
                <a:rPr lang="zh-CN" altLang="en-US" sz="1600" spc="24">
                  <a:solidFill>
                    <a:prstClr val="black"/>
                  </a:solidFill>
                  <a:latin typeface="SimHei"/>
                  <a:ea typeface="+mn-lt"/>
                  <a:cs typeface="+mn-ea"/>
                  <a:sym typeface="+mn-lt"/>
                </a:rPr>
                <a:t>向对接的社指成员提交电子版活动策划表</a:t>
              </a:r>
              <a:r>
                <a:rPr lang="en-US" altLang="zh-CN" sz="1600" spc="24">
                  <a:solidFill>
                    <a:prstClr val="black"/>
                  </a:solidFill>
                  <a:latin typeface="SimHei"/>
                  <a:ea typeface="+mn-lt"/>
                  <a:cs typeface="+mn-ea"/>
                  <a:sym typeface="+mn-lt"/>
                </a:rPr>
                <a:t>/</a:t>
              </a:r>
              <a:r>
                <a:rPr lang="zh-CN" altLang="en-US" sz="1600" spc="24">
                  <a:solidFill>
                    <a:prstClr val="black"/>
                  </a:solidFill>
                  <a:latin typeface="SimHei"/>
                  <a:ea typeface="+mn-lt"/>
                  <a:cs typeface="+mn-ea"/>
                  <a:sym typeface="+mn-lt"/>
                </a:rPr>
                <a:t>申请表</a:t>
              </a:r>
              <a:endParaRPr lang="zh-CN"/>
            </a:p>
          </p:txBody>
        </p:sp>
        <p:sp>
          <p:nvSpPr>
            <p:cNvPr id="17" name="椭圆 16"/>
            <p:cNvSpPr/>
            <p:nvPr/>
          </p:nvSpPr>
          <p:spPr>
            <a:xfrm>
              <a:off x="4719345" y="3454243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396968" y="3439649"/>
            <a:ext cx="5029992" cy="2153985"/>
            <a:chOff x="6793208" y="3453338"/>
            <a:chExt cx="5029992" cy="2153985"/>
          </a:xfrm>
        </p:grpSpPr>
        <p:sp>
          <p:nvSpPr>
            <p:cNvPr id="25" name="文本框 24"/>
            <p:cNvSpPr txBox="1"/>
            <p:nvPr/>
          </p:nvSpPr>
          <p:spPr>
            <a:xfrm>
              <a:off x="8684752" y="3861051"/>
              <a:ext cx="2262158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marL="0" marR="0" lvl="0" indent="0" algn="ctr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zh-CN" altLang="en-US" b="1">
                  <a:solidFill>
                    <a:srgbClr val="000000"/>
                  </a:solidFill>
                  <a:latin typeface="microsoft yahei ui"/>
                  <a:ea typeface="microsoft yahei ui"/>
                  <a:cs typeface="+mn-ea"/>
                  <a:sym typeface="+mn-lt"/>
                </a:rPr>
                <a:t>报销并填写预决算表</a:t>
              </a:r>
              <a:endParaRPr lang="zh-CN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793208" y="3826415"/>
              <a:ext cx="1107997" cy="369332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marL="0" marR="0" lvl="0" indent="0" algn="ctr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b="1" err="1">
                  <a:solidFill>
                    <a:srgbClr val="000000"/>
                  </a:solidFill>
                  <a:latin typeface="Microsoft YaHei"/>
                  <a:ea typeface="Microsoft YaHei"/>
                  <a:cs typeface="+mn-ea"/>
                </a:rPr>
                <a:t>开展活动</a:t>
              </a:r>
              <a:endParaRPr lang="zh-CN" altLang="en-US" err="1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8534591" y="3607233"/>
              <a:ext cx="81329" cy="1584331"/>
              <a:chOff x="7819241" y="3438724"/>
              <a:chExt cx="81329" cy="1584331"/>
            </a:xfrm>
            <a:solidFill>
              <a:srgbClr val="00206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33" name="直接连接符 32"/>
              <p:cNvCxnSpPr/>
              <p:nvPr/>
            </p:nvCxnSpPr>
            <p:spPr>
              <a:xfrm flipH="1">
                <a:off x="7819241" y="3438724"/>
                <a:ext cx="650" cy="1583486"/>
              </a:xfrm>
              <a:prstGeom prst="line">
                <a:avLst/>
              </a:prstGeom>
              <a:grpFill/>
              <a:ln w="127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矩形 33"/>
              <p:cNvSpPr/>
              <p:nvPr/>
            </p:nvSpPr>
            <p:spPr>
              <a:xfrm>
                <a:off x="7821396" y="4627184"/>
                <a:ext cx="79174" cy="395871"/>
              </a:xfrm>
              <a:prstGeom prst="rect">
                <a:avLst/>
              </a:prstGeom>
              <a:grpFill/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8837808" y="4716630"/>
              <a:ext cx="2985392" cy="89069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defRPr sz="1800" spc="0">
                  <a:solidFill>
                    <a:srgbClr val="000000"/>
                  </a:solidFill>
                </a:defRPr>
              </a:pPr>
              <a:r>
                <a:rPr lang="zh-CN" altLang="en-US" spc="24" err="1">
                  <a:solidFill>
                    <a:prstClr val="black"/>
                  </a:solidFill>
                  <a:latin typeface="SimHei"/>
                  <a:ea typeface="+mn-lt"/>
                  <a:cs typeface="+mn-ea"/>
                  <a:sym typeface="+mn-lt"/>
                </a:rPr>
                <a:t>向</a:t>
              </a:r>
              <a:r>
                <a:rPr lang="zh-CN" altLang="en-US" spc="24" err="1">
                  <a:solidFill>
                    <a:srgbClr val="0070C0"/>
                  </a:solidFill>
                  <a:highlight>
                    <a:srgbClr val="FFFF00"/>
                  </a:highlight>
                  <a:latin typeface="SimHei"/>
                  <a:ea typeface="+mn-lt"/>
                  <a:cs typeface="+mn-ea"/>
                  <a:sym typeface="+mn-lt"/>
                </a:rPr>
                <a:t>对接社指成员</a:t>
              </a:r>
              <a:r>
                <a:rPr lang="zh-CN" altLang="en-US" spc="24" err="1">
                  <a:solidFill>
                    <a:prstClr val="black"/>
                  </a:solidFill>
                  <a:latin typeface="SimHei"/>
                  <a:ea typeface="+mn-lt"/>
                  <a:cs typeface="+mn-ea"/>
                  <a:sym typeface="+mn-lt"/>
                </a:rPr>
                <a:t>提供预决算表电子版</a:t>
              </a:r>
              <a:endParaRPr lang="zh-CN" spc="24" err="1">
                <a:solidFill>
                  <a:prstClr val="black"/>
                </a:solidFill>
                <a:latin typeface="SimHei"/>
                <a:ea typeface="SimHei"/>
                <a:cs typeface="+mn-ea"/>
                <a:sym typeface="+mn-lt"/>
              </a:endParaRPr>
            </a:p>
            <a:p>
              <a:pPr lvl="0">
                <a:lnSpc>
                  <a:spcPct val="150000"/>
                </a:lnSpc>
                <a:defRPr sz="1800" spc="0">
                  <a:solidFill>
                    <a:srgbClr val="000000"/>
                  </a:solidFill>
                </a:defRPr>
              </a:pPr>
              <a:endParaRPr lang="zh-CN" altLang="en-US" sz="1200" spc="24">
                <a:solidFill>
                  <a:prstClr val="black"/>
                </a:solidFill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7187969" y="3454243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9656593" y="3453338"/>
              <a:ext cx="318477" cy="318477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905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31" name="直接连接符 30"/>
            <p:cNvCxnSpPr>
              <a:stCxn id="29" idx="6"/>
              <a:endCxn id="30" idx="2"/>
            </p:cNvCxnSpPr>
            <p:nvPr/>
          </p:nvCxnSpPr>
          <p:spPr>
            <a:xfrm flipV="1">
              <a:off x="7506446" y="3612577"/>
              <a:ext cx="2150147" cy="905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30" idx="6"/>
            </p:cNvCxnSpPr>
            <p:nvPr/>
          </p:nvCxnSpPr>
          <p:spPr>
            <a:xfrm>
              <a:off x="9975070" y="3612577"/>
              <a:ext cx="1700736" cy="0"/>
            </a:xfrm>
            <a:prstGeom prst="line">
              <a:avLst/>
            </a:prstGeom>
            <a:ln w="127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文本框 34"/>
          <p:cNvSpPr txBox="1"/>
          <p:nvPr/>
        </p:nvSpPr>
        <p:spPr>
          <a:xfrm>
            <a:off x="3473427" y="91948"/>
            <a:ext cx="5493812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defRPr/>
            </a:pPr>
            <a:r>
              <a:rPr lang="zh-CN" sz="4000" b="1" spc="600">
                <a:latin typeface="microsoft yahei ui"/>
                <a:ea typeface="microsoft yahei ui"/>
                <a:cs typeface="+mn-ea"/>
                <a:sym typeface="+mn-lt"/>
              </a:rPr>
              <a:t>社团活动开展</a:t>
            </a:r>
            <a:r>
              <a:rPr lang="zh-CN" altLang="en-US" sz="4000" b="1" spc="600">
                <a:latin typeface="microsoft yahei ui"/>
                <a:ea typeface="+mn-lt"/>
                <a:cs typeface="+mn-ea"/>
                <a:sym typeface="+mn-lt"/>
              </a:rPr>
              <a:t>时间表</a:t>
            </a:r>
            <a:endParaRPr lang="zh-CN"/>
          </a:p>
        </p:txBody>
      </p:sp>
      <p:sp>
        <p:nvSpPr>
          <p:cNvPr id="36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7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8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39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86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ADC04A-6A3E-C5F3-CFAE-6B9C6F51BF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01473" y="1066435"/>
            <a:ext cx="4653507" cy="57727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CF75B0-D2F7-F90F-C18C-5EEA1996CC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1504" y="1085296"/>
            <a:ext cx="4653507" cy="5753843"/>
          </a:xfrm>
          <a:prstGeom prst="rect">
            <a:avLst/>
          </a:prstGeom>
        </p:spPr>
      </p:pic>
      <p:sp>
        <p:nvSpPr>
          <p:cNvPr id="5" name="文本框 19">
            <a:extLst>
              <a:ext uri="{FF2B5EF4-FFF2-40B4-BE49-F238E27FC236}">
                <a16:creationId xmlns:a16="http://schemas.microsoft.com/office/drawing/2014/main" id="{01FD0C73-AF50-29A2-8899-A3B35B1B5590}"/>
              </a:ext>
            </a:extLst>
          </p:cNvPr>
          <p:cNvSpPr txBox="1"/>
          <p:nvPr/>
        </p:nvSpPr>
        <p:spPr>
          <a:xfrm>
            <a:off x="6569766" y="2711394"/>
            <a:ext cx="3758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600">
                <a:solidFill>
                  <a:srgbClr val="FF0000"/>
                </a:solidFill>
              </a:rPr>
              <a:t>活动类型（内部活动，面对全校，涉外涉商）需填写在最前面</a:t>
            </a:r>
          </a:p>
        </p:txBody>
      </p:sp>
      <p:sp>
        <p:nvSpPr>
          <p:cNvPr id="6" name="文本框 21">
            <a:extLst>
              <a:ext uri="{FF2B5EF4-FFF2-40B4-BE49-F238E27FC236}">
                <a16:creationId xmlns:a16="http://schemas.microsoft.com/office/drawing/2014/main" id="{8E9E8F99-CC04-6C50-E0E6-616B21B7FD8E}"/>
              </a:ext>
            </a:extLst>
          </p:cNvPr>
          <p:cNvSpPr txBox="1"/>
          <p:nvPr/>
        </p:nvSpPr>
        <p:spPr>
          <a:xfrm>
            <a:off x="305961" y="2834504"/>
            <a:ext cx="6094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240"/>
              </a:lnSpc>
            </a:pPr>
            <a:r>
              <a:rPr lang="en-US" altLang="zh-CN" sz="1600" err="1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浙江大学国际校区学生xxx社（主办</a:t>
            </a:r>
            <a:r>
              <a:rPr lang="en-US" altLang="zh-CN" sz="1600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7" name="标题 7">
            <a:extLst>
              <a:ext uri="{FF2B5EF4-FFF2-40B4-BE49-F238E27FC236}">
                <a16:creationId xmlns:a16="http://schemas.microsoft.com/office/drawing/2014/main" id="{631211B6-B9C2-CB97-1D05-F9205ADFCE20}"/>
              </a:ext>
            </a:extLst>
          </p:cNvPr>
          <p:cNvSpPr>
            <a:spLocks noGrp="1"/>
          </p:cNvSpPr>
          <p:nvPr/>
        </p:nvSpPr>
        <p:spPr>
          <a:xfrm>
            <a:off x="5010658" y="200449"/>
            <a:ext cx="4941477" cy="6108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>
                <a:solidFill>
                  <a:schemeClr val="tx1"/>
                </a:solidFill>
                <a:latin typeface="Microsoft YaHei UI"/>
                <a:ea typeface="Microsoft YaHei UI"/>
              </a:rPr>
              <a:t>活动策划表样式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C8CAD37-B501-3960-8B59-D22E4D119F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01473" y="1066435"/>
            <a:ext cx="4653507" cy="5772704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B9E5AA77-0AD0-BDD3-92F0-CB966F9D56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31504" y="1067045"/>
            <a:ext cx="4653507" cy="5753843"/>
          </a:xfrm>
          <a:prstGeom prst="rect">
            <a:avLst/>
          </a:prstGeom>
        </p:spPr>
      </p:pic>
      <p:sp>
        <p:nvSpPr>
          <p:cNvPr id="10" name="文本框 19">
            <a:extLst>
              <a:ext uri="{FF2B5EF4-FFF2-40B4-BE49-F238E27FC236}">
                <a16:creationId xmlns:a16="http://schemas.microsoft.com/office/drawing/2014/main" id="{50241128-CA61-CC61-F674-2A01DDC88495}"/>
              </a:ext>
            </a:extLst>
          </p:cNvPr>
          <p:cNvSpPr txBox="1"/>
          <p:nvPr/>
        </p:nvSpPr>
        <p:spPr>
          <a:xfrm>
            <a:off x="6569766" y="2711394"/>
            <a:ext cx="3758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600">
                <a:solidFill>
                  <a:srgbClr val="FF0000"/>
                </a:solidFill>
              </a:rPr>
              <a:t>活动类型（内部活动，面对全校，涉外涉商）需填写在最前面</a:t>
            </a:r>
          </a:p>
        </p:txBody>
      </p:sp>
      <p:sp>
        <p:nvSpPr>
          <p:cNvPr id="11" name="文本框 21">
            <a:extLst>
              <a:ext uri="{FF2B5EF4-FFF2-40B4-BE49-F238E27FC236}">
                <a16:creationId xmlns:a16="http://schemas.microsoft.com/office/drawing/2014/main" id="{9B6ADE06-525D-1C85-242F-29DE0D83AA95}"/>
              </a:ext>
            </a:extLst>
          </p:cNvPr>
          <p:cNvSpPr txBox="1"/>
          <p:nvPr/>
        </p:nvSpPr>
        <p:spPr>
          <a:xfrm>
            <a:off x="305961" y="2834504"/>
            <a:ext cx="6094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240"/>
              </a:lnSpc>
            </a:pPr>
            <a:r>
              <a:rPr lang="en-US" altLang="zh-CN" sz="1600" err="1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浙江大学国际校区学生xxx社（主办</a:t>
            </a:r>
            <a:r>
              <a:rPr lang="en-US" altLang="zh-CN" sz="1600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98865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6DA806B8-BF7B-B310-1CCF-ABDA6A9CBA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7967" y="201673"/>
            <a:ext cx="5823748" cy="6454654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DF7CE6DB-C215-06E8-E00B-90299ACB69F3}"/>
              </a:ext>
            </a:extLst>
          </p:cNvPr>
          <p:cNvSpPr txBox="1"/>
          <p:nvPr/>
        </p:nvSpPr>
        <p:spPr>
          <a:xfrm>
            <a:off x="3947286" y="532481"/>
            <a:ext cx="1231393" cy="243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2055"/>
              </a:lnSpc>
            </a:pPr>
            <a:r>
              <a:rPr lang="en-US" sz="1465" dirty="0" err="1">
                <a:solidFill>
                  <a:srgbClr val="FF1616"/>
                </a:solidFill>
                <a:ea typeface="WenQuanYi"/>
              </a:rPr>
              <a:t>填表格时间</a:t>
            </a:r>
            <a:endParaRPr lang="en-US" sz="1465" dirty="0">
              <a:solidFill>
                <a:srgbClr val="FF1616"/>
              </a:solidFill>
              <a:ea typeface="WenQuanYi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1BFAC045-2950-4999-4880-CA0528E276B7}"/>
              </a:ext>
            </a:extLst>
          </p:cNvPr>
          <p:cNvSpPr txBox="1"/>
          <p:nvPr/>
        </p:nvSpPr>
        <p:spPr>
          <a:xfrm>
            <a:off x="3361791" y="2240409"/>
            <a:ext cx="508000" cy="16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FF1616"/>
                </a:solidFill>
                <a:ea typeface="WenQuanYi"/>
              </a:rPr>
              <a:t>报销金额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CF171907-5462-ED06-0508-8556EA381D90}"/>
              </a:ext>
            </a:extLst>
          </p:cNvPr>
          <p:cNvSpPr txBox="1"/>
          <p:nvPr/>
        </p:nvSpPr>
        <p:spPr>
          <a:xfrm>
            <a:off x="4251832" y="2240409"/>
            <a:ext cx="508000" cy="16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400"/>
              </a:lnSpc>
            </a:pPr>
            <a:r>
              <a:rPr lang="en-US" sz="1000">
                <a:solidFill>
                  <a:srgbClr val="FF1616"/>
                </a:solidFill>
                <a:ea typeface="WenQuanYi"/>
              </a:rPr>
              <a:t>报销金额</a:t>
            </a:r>
          </a:p>
        </p:txBody>
      </p:sp>
      <p:sp>
        <p:nvSpPr>
          <p:cNvPr id="16" name="AutoShape 6">
            <a:extLst>
              <a:ext uri="{FF2B5EF4-FFF2-40B4-BE49-F238E27FC236}">
                <a16:creationId xmlns:a16="http://schemas.microsoft.com/office/drawing/2014/main" id="{02E8CDDF-0769-A22A-E7B9-C2330FBFEB16}"/>
              </a:ext>
            </a:extLst>
          </p:cNvPr>
          <p:cNvSpPr/>
          <p:nvPr/>
        </p:nvSpPr>
        <p:spPr>
          <a:xfrm>
            <a:off x="5717435" y="2329309"/>
            <a:ext cx="648917" cy="0"/>
          </a:xfrm>
          <a:prstGeom prst="line">
            <a:avLst/>
          </a:prstGeom>
          <a:ln w="38100" cap="flat">
            <a:solidFill>
              <a:srgbClr val="FF1616"/>
            </a:solidFill>
            <a:prstDash val="solid"/>
            <a:headEnd type="none" w="sm" len="sm"/>
            <a:tailEnd type="triangle" w="lg" len="med"/>
          </a:ln>
        </p:spPr>
        <p:txBody>
          <a:bodyPr/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97E1E516-BC89-2ED0-F970-9E1E7D95B742}"/>
              </a:ext>
            </a:extLst>
          </p:cNvPr>
          <p:cNvSpPr txBox="1"/>
          <p:nvPr/>
        </p:nvSpPr>
        <p:spPr>
          <a:xfrm>
            <a:off x="6693889" y="1996145"/>
            <a:ext cx="4812311" cy="781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175"/>
              </a:lnSpc>
            </a:pPr>
            <a:r>
              <a:rPr lang="en-US" sz="2265" dirty="0" err="1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需罗列清楚所买物品和数量，格式</a:t>
            </a:r>
            <a:r>
              <a:rPr lang="en-US" sz="2265" dirty="0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：【</a:t>
            </a:r>
            <a:r>
              <a:rPr lang="en-US" sz="2265" dirty="0" err="1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物品：单价</a:t>
            </a:r>
            <a:r>
              <a:rPr lang="en-US" sz="2265" dirty="0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</a:t>
            </a:r>
            <a:r>
              <a:rPr lang="en-US" sz="2265" dirty="0" err="1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数量</a:t>
            </a:r>
            <a:r>
              <a:rPr lang="en-US" sz="2265" dirty="0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】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638CE794-A25A-0AC1-9E46-4B9323D64595}"/>
              </a:ext>
            </a:extLst>
          </p:cNvPr>
          <p:cNvSpPr txBox="1"/>
          <p:nvPr/>
        </p:nvSpPr>
        <p:spPr>
          <a:xfrm>
            <a:off x="4562982" y="5859781"/>
            <a:ext cx="609600" cy="19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80"/>
              </a:lnSpc>
            </a:pPr>
            <a:r>
              <a:rPr lang="en-US" sz="1200">
                <a:solidFill>
                  <a:srgbClr val="FF1616"/>
                </a:solidFill>
                <a:ea typeface="WenQuanYi"/>
              </a:rPr>
              <a:t>无需填写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BC82583B-6D20-E383-3073-D023C221328D}"/>
              </a:ext>
            </a:extLst>
          </p:cNvPr>
          <p:cNvSpPr txBox="1"/>
          <p:nvPr/>
        </p:nvSpPr>
        <p:spPr>
          <a:xfrm>
            <a:off x="7036056" y="3802134"/>
            <a:ext cx="4127977" cy="781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175"/>
              </a:lnSpc>
            </a:pPr>
            <a:r>
              <a:rPr lang="en-US" sz="2265" err="1">
                <a:solidFill>
                  <a:srgbClr val="FF161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预决算表中的报销金额需小于或等于策划表中填写的预算金额</a:t>
            </a:r>
            <a:endParaRPr lang="en-US" sz="2265">
              <a:solidFill>
                <a:srgbClr val="FF161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5A6BBBFD-6382-E7F7-37A6-3F1E3289B71A}"/>
              </a:ext>
            </a:extLst>
          </p:cNvPr>
          <p:cNvSpPr txBox="1"/>
          <p:nvPr/>
        </p:nvSpPr>
        <p:spPr>
          <a:xfrm>
            <a:off x="3521195" y="5512788"/>
            <a:ext cx="508000" cy="16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400"/>
              </a:lnSpc>
            </a:pPr>
            <a:r>
              <a:rPr lang="en-US" sz="1000" err="1">
                <a:solidFill>
                  <a:srgbClr val="FF1616"/>
                </a:solidFill>
                <a:ea typeface="WenQuanYi"/>
              </a:rPr>
              <a:t>必须要填</a:t>
            </a:r>
            <a:endParaRPr lang="en-US" sz="1000">
              <a:solidFill>
                <a:srgbClr val="FF1616"/>
              </a:solidFill>
              <a:ea typeface="WenQuanYi"/>
            </a:endParaRPr>
          </a:p>
        </p:txBody>
      </p:sp>
      <p:sp>
        <p:nvSpPr>
          <p:cNvPr id="21" name="文本框 10">
            <a:extLst>
              <a:ext uri="{FF2B5EF4-FFF2-40B4-BE49-F238E27FC236}">
                <a16:creationId xmlns:a16="http://schemas.microsoft.com/office/drawing/2014/main" id="{F21E66DB-083F-3611-6569-25A83E0263CD}"/>
              </a:ext>
            </a:extLst>
          </p:cNvPr>
          <p:cNvSpPr txBox="1"/>
          <p:nvPr/>
        </p:nvSpPr>
        <p:spPr>
          <a:xfrm>
            <a:off x="6851714" y="5512788"/>
            <a:ext cx="47412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>
                <a:solidFill>
                  <a:srgbClr val="0070C0"/>
                </a:solidFill>
                <a:highlight>
                  <a:srgbClr val="FFFF00"/>
                </a:highlight>
              </a:rPr>
              <a:t>总之，填的越规范，报销的越快</a:t>
            </a:r>
          </a:p>
        </p:txBody>
      </p:sp>
    </p:spTree>
    <p:extLst>
      <p:ext uri="{BB962C8B-B14F-4D97-AF65-F5344CB8AC3E}">
        <p14:creationId xmlns:p14="http://schemas.microsoft.com/office/powerpoint/2010/main" val="4186318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C817A-FA4B-B9CA-22E0-9BBE4AA73E9C}"/>
              </a:ext>
            </a:extLst>
          </p:cNvPr>
          <p:cNvSpPr>
            <a:spLocks noGrp="1"/>
          </p:cNvSpPr>
          <p:nvPr/>
        </p:nvSpPr>
        <p:spPr>
          <a:xfrm>
            <a:off x="919491" y="963180"/>
            <a:ext cx="4941477" cy="6108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rtl="0"/>
            <a:r>
              <a:rPr lang="zh-CN" altLang="en-US">
                <a:solidFill>
                  <a:schemeClr val="tx1"/>
                </a:solidFill>
                <a:latin typeface="Microsoft YaHei UI"/>
                <a:ea typeface="Microsoft YaHei UI"/>
              </a:rPr>
              <a:t>表格格式规范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09CE45-D6A2-C3BF-792A-AD1620B57D03}"/>
              </a:ext>
            </a:extLst>
          </p:cNvPr>
          <p:cNvSpPr>
            <a:spLocks noGrp="1"/>
          </p:cNvSpPr>
          <p:nvPr/>
        </p:nvSpPr>
        <p:spPr>
          <a:xfrm>
            <a:off x="1269649" y="2126973"/>
            <a:ext cx="3986502" cy="206733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i="0" kern="1200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50000"/>
              </a:lnSpc>
            </a:pPr>
            <a:r>
              <a:rPr lang="en-US" altLang="zh-CN" sz="2400">
                <a:latin typeface="Microsoft YaHei UI"/>
                <a:ea typeface="Microsoft YaHei UI"/>
              </a:rPr>
              <a:t>1.</a:t>
            </a:r>
            <a:r>
              <a:rPr lang="zh-CN" altLang="en-US" sz="2400">
                <a:latin typeface="Microsoft YaHei UI"/>
                <a:ea typeface="Microsoft YaHei UI"/>
              </a:rPr>
              <a:t>文件名需命名为</a:t>
            </a:r>
            <a:endParaRPr lang="en-US" altLang="zh-CN" sz="2400">
              <a:latin typeface="Microsoft YaHei UI"/>
              <a:ea typeface="Microsoft YaHei UI"/>
            </a:endParaRPr>
          </a:p>
          <a:p>
            <a:pPr rtl="0">
              <a:lnSpc>
                <a:spcPct val="150000"/>
              </a:lnSpc>
            </a:pPr>
            <a:r>
              <a:rPr lang="zh-CN" altLang="en-US" sz="2400">
                <a:latin typeface="Microsoft YaHei UI"/>
                <a:ea typeface="Microsoft YaHei UI"/>
              </a:rPr>
              <a:t>社团名</a:t>
            </a:r>
            <a:r>
              <a:rPr lang="en-US" altLang="zh-CN" sz="2400">
                <a:latin typeface="Microsoft YaHei UI"/>
                <a:ea typeface="Microsoft YaHei UI"/>
              </a:rPr>
              <a:t>+</a:t>
            </a:r>
            <a:r>
              <a:rPr lang="zh-CN" altLang="en-US" sz="2400">
                <a:latin typeface="Microsoft YaHei UI"/>
                <a:ea typeface="Microsoft YaHei UI"/>
              </a:rPr>
              <a:t>活动名称</a:t>
            </a:r>
            <a:r>
              <a:rPr lang="en-US" altLang="zh-CN" sz="2400">
                <a:latin typeface="Microsoft YaHei UI"/>
                <a:ea typeface="Microsoft YaHei UI"/>
              </a:rPr>
              <a:t>+</a:t>
            </a:r>
            <a:r>
              <a:rPr lang="zh-CN" altLang="en-US" sz="2400">
                <a:latin typeface="Microsoft YaHei UI"/>
                <a:ea typeface="Microsoft YaHei UI"/>
              </a:rPr>
              <a:t>表格类型</a:t>
            </a:r>
          </a:p>
        </p:txBody>
      </p:sp>
      <p:sp>
        <p:nvSpPr>
          <p:cNvPr id="4" name="文本占位符 4">
            <a:extLst>
              <a:ext uri="{FF2B5EF4-FFF2-40B4-BE49-F238E27FC236}">
                <a16:creationId xmlns:a16="http://schemas.microsoft.com/office/drawing/2014/main" id="{4AE1D1EF-0F8B-899A-C259-21EBBE0475FD}"/>
              </a:ext>
            </a:extLst>
          </p:cNvPr>
          <p:cNvSpPr>
            <a:spLocks noGrp="1"/>
          </p:cNvSpPr>
          <p:nvPr/>
        </p:nvSpPr>
        <p:spPr>
          <a:xfrm>
            <a:off x="6207443" y="2126767"/>
            <a:ext cx="3867749" cy="27897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i="0" kern="1200" spc="0" baseline="0" dirty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i="0" kern="120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50000"/>
              </a:lnSpc>
            </a:pPr>
            <a:r>
              <a:rPr lang="en-US" altLang="zh-CN" sz="2400">
                <a:latin typeface="Microsoft YaHei UI"/>
                <a:ea typeface="Microsoft YaHei UI"/>
              </a:rPr>
              <a:t>2.</a:t>
            </a:r>
            <a:r>
              <a:rPr lang="zh-CN" altLang="en-US" sz="2400">
                <a:latin typeface="Microsoft YaHei UI"/>
                <a:ea typeface="Microsoft YaHei UI"/>
              </a:rPr>
              <a:t>社团名需写全称</a:t>
            </a:r>
            <a:r>
              <a:rPr lang="en-US" altLang="zh-CN" sz="2400">
                <a:latin typeface="Microsoft YaHei UI"/>
                <a:ea typeface="Microsoft YaHei UI"/>
              </a:rPr>
              <a:t>【</a:t>
            </a:r>
            <a:r>
              <a:rPr lang="zh-CN" altLang="en-US" sz="2400">
                <a:latin typeface="Microsoft YaHei UI"/>
                <a:ea typeface="Microsoft YaHei UI"/>
              </a:rPr>
              <a:t>浙江大学国际校区学生（）社</a:t>
            </a:r>
            <a:r>
              <a:rPr lang="en-US" altLang="zh-CN" sz="2400">
                <a:latin typeface="Microsoft YaHei UI"/>
                <a:ea typeface="Microsoft YaHei UI"/>
              </a:rPr>
              <a:t>】/【</a:t>
            </a:r>
            <a:r>
              <a:rPr lang="zh-CN" altLang="en-US" sz="2400">
                <a:latin typeface="Microsoft YaHei UI"/>
                <a:ea typeface="Microsoft YaHei UI"/>
              </a:rPr>
              <a:t>浙江大学国际校区学生（）社（筹）</a:t>
            </a:r>
            <a:r>
              <a:rPr lang="en-US" altLang="zh-CN" sz="2400">
                <a:latin typeface="Microsoft YaHei UI"/>
                <a:ea typeface="Microsoft YaHei UI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677885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2"/>
          <p:cNvSpPr txBox="1"/>
          <p:nvPr>
            <p:custDataLst>
              <p:tags r:id="rId1"/>
            </p:custDataLst>
          </p:nvPr>
        </p:nvSpPr>
        <p:spPr>
          <a:xfrm>
            <a:off x="3598088" y="2587713"/>
            <a:ext cx="4621101" cy="1102484"/>
          </a:xfrm>
          <a:prstGeom prst="rect">
            <a:avLst/>
          </a:prstGeom>
          <a:noFill/>
        </p:spPr>
        <p:txBody>
          <a:bodyPr wrap="square" lIns="85983" tIns="42991" rIns="85983" bIns="42991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6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经费与报销​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3425596" y="27074"/>
            <a:ext cx="5314275" cy="76944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defRPr/>
            </a:pPr>
            <a:r>
              <a:rPr lang="zh-CN" sz="4400" b="1" spc="600">
                <a:latin typeface="Microsoft YaHei UI"/>
                <a:ea typeface="Microsoft YaHei UI"/>
                <a:cs typeface="+mn-ea"/>
                <a:sym typeface="+mn-lt"/>
              </a:rPr>
              <a:t>社团活动经费来源</a:t>
            </a:r>
            <a:endParaRPr lang="zh-CN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2614184-64E5-F5A5-962B-4CBD73C10200}"/>
              </a:ext>
            </a:extLst>
          </p:cNvPr>
          <p:cNvSpPr txBox="1"/>
          <p:nvPr/>
        </p:nvSpPr>
        <p:spPr>
          <a:xfrm>
            <a:off x="791786" y="1041183"/>
            <a:ext cx="10858815" cy="59024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zh-CN" sz="2000">
                <a:latin typeface="Microsoft YaHei UI"/>
                <a:ea typeface="Microsoft YaHei UI"/>
              </a:rPr>
              <a:t>社团活动主要分为两种</a:t>
            </a:r>
            <a:endParaRPr lang="en-US" altLang="zh-CN" sz="2000">
              <a:solidFill>
                <a:srgbClr val="FFFFFF"/>
              </a:solidFill>
              <a:latin typeface="Microsoft YaHei U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2000" b="1">
                <a:solidFill>
                  <a:srgbClr val="002060"/>
                </a:solidFill>
                <a:latin typeface="Microsoft YaHei UI"/>
                <a:ea typeface="Microsoft YaHei UI"/>
              </a:rPr>
              <a:t>日常活动（自选主题），社团自行策划报销宣传</a:t>
            </a:r>
            <a:endParaRPr lang="en-US" altLang="zh-CN" sz="2000" b="1">
              <a:solidFill>
                <a:srgbClr val="FFFFFF"/>
              </a:solidFill>
              <a:latin typeface="Microsoft YaHei UI"/>
            </a:endParaRPr>
          </a:p>
          <a:p>
            <a:pPr marL="742950" lvl="1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zh-CN" sz="1700">
                <a:solidFill>
                  <a:srgbClr val="002060"/>
                </a:solidFill>
                <a:latin typeface="Microsoft YaHei UI"/>
                <a:ea typeface="Microsoft YaHei UI"/>
              </a:rPr>
              <a:t>一星社团</a:t>
            </a:r>
            <a:r>
              <a:rPr lang="en-US" altLang="zh-CN" sz="1700">
                <a:solidFill>
                  <a:srgbClr val="002060"/>
                </a:solidFill>
                <a:latin typeface="Microsoft YaHei UI"/>
              </a:rPr>
              <a:t>600</a:t>
            </a:r>
            <a:r>
              <a:rPr lang="zh-CN" sz="1700">
                <a:solidFill>
                  <a:srgbClr val="002060"/>
                </a:solidFill>
                <a:latin typeface="Microsoft YaHei UI"/>
                <a:ea typeface="Microsoft YaHei UI"/>
              </a:rPr>
              <a:t>元</a:t>
            </a:r>
            <a:r>
              <a:rPr lang="en-US" altLang="zh-CN" sz="1700">
                <a:solidFill>
                  <a:srgbClr val="002060"/>
                </a:solidFill>
                <a:latin typeface="Microsoft YaHei UI"/>
              </a:rPr>
              <a:t>/</a:t>
            </a:r>
            <a:r>
              <a:rPr lang="zh-CN" sz="1700">
                <a:solidFill>
                  <a:srgbClr val="002060"/>
                </a:solidFill>
                <a:latin typeface="Microsoft YaHei UI"/>
                <a:ea typeface="Microsoft YaHei UI"/>
              </a:rPr>
              <a:t>学期</a:t>
            </a:r>
            <a:endParaRPr lang="en-US" altLang="zh-CN" sz="1700">
              <a:solidFill>
                <a:srgbClr val="FFFFFF"/>
              </a:solidFill>
              <a:latin typeface="Microsoft YaHei UI"/>
            </a:endParaRPr>
          </a:p>
          <a:p>
            <a:pPr marL="742950" lvl="1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zh-CN" sz="1700">
                <a:solidFill>
                  <a:srgbClr val="002060"/>
                </a:solidFill>
                <a:latin typeface="Microsoft YaHei UI"/>
                <a:ea typeface="Microsoft YaHei UI"/>
              </a:rPr>
              <a:t>二星社团</a:t>
            </a:r>
            <a:r>
              <a:rPr lang="en-US" altLang="zh-CN" sz="1700">
                <a:solidFill>
                  <a:srgbClr val="002060"/>
                </a:solidFill>
                <a:latin typeface="Microsoft YaHei UI"/>
              </a:rPr>
              <a:t>1000</a:t>
            </a:r>
            <a:r>
              <a:rPr lang="zh-CN" sz="1700">
                <a:solidFill>
                  <a:srgbClr val="002060"/>
                </a:solidFill>
                <a:latin typeface="Microsoft YaHei UI"/>
                <a:ea typeface="Microsoft YaHei UI"/>
              </a:rPr>
              <a:t>元</a:t>
            </a:r>
            <a:r>
              <a:rPr lang="en-US" altLang="zh-CN" sz="1700">
                <a:solidFill>
                  <a:srgbClr val="002060"/>
                </a:solidFill>
                <a:latin typeface="Microsoft YaHei UI"/>
              </a:rPr>
              <a:t>/</a:t>
            </a:r>
            <a:r>
              <a:rPr lang="zh-CN" sz="1700">
                <a:solidFill>
                  <a:srgbClr val="002060"/>
                </a:solidFill>
                <a:latin typeface="Microsoft YaHei UI"/>
                <a:ea typeface="Microsoft YaHei UI"/>
              </a:rPr>
              <a:t>学期</a:t>
            </a:r>
            <a:endParaRPr lang="en-US" altLang="zh-CN" sz="1700">
              <a:solidFill>
                <a:srgbClr val="FFFFFF"/>
              </a:solidFill>
              <a:latin typeface="Microsoft YaHei UI"/>
            </a:endParaRPr>
          </a:p>
          <a:p>
            <a:pPr marL="742950" lvl="1" indent="-285750">
              <a:lnSpc>
                <a:spcPct val="120000"/>
              </a:lnSpc>
              <a:spcBef>
                <a:spcPts val="500"/>
              </a:spcBef>
              <a:buFont typeface="Arial"/>
              <a:buChar char="•"/>
            </a:pPr>
            <a:r>
              <a:rPr lang="zh-CN" sz="1700">
                <a:solidFill>
                  <a:srgbClr val="002060"/>
                </a:solidFill>
                <a:latin typeface="Microsoft YaHei UI"/>
                <a:ea typeface="Microsoft YaHei UI"/>
              </a:rPr>
              <a:t>三星社团</a:t>
            </a:r>
            <a:r>
              <a:rPr lang="en-US" altLang="zh-CN" sz="1700">
                <a:solidFill>
                  <a:srgbClr val="002060"/>
                </a:solidFill>
                <a:latin typeface="Microsoft YaHei UI"/>
              </a:rPr>
              <a:t>1500</a:t>
            </a:r>
            <a:r>
              <a:rPr lang="zh-CN" sz="1700">
                <a:solidFill>
                  <a:srgbClr val="002060"/>
                </a:solidFill>
                <a:latin typeface="Microsoft YaHei UI"/>
                <a:ea typeface="Microsoft YaHei UI"/>
              </a:rPr>
              <a:t>元</a:t>
            </a:r>
            <a:r>
              <a:rPr lang="en-US" altLang="zh-CN" sz="1700">
                <a:solidFill>
                  <a:srgbClr val="002060"/>
                </a:solidFill>
                <a:latin typeface="Microsoft YaHei UI"/>
              </a:rPr>
              <a:t>/</a:t>
            </a:r>
            <a:r>
              <a:rPr lang="zh-CN" sz="1700">
                <a:solidFill>
                  <a:srgbClr val="002060"/>
                </a:solidFill>
                <a:latin typeface="Microsoft YaHei UI"/>
                <a:ea typeface="Microsoft YaHei UI"/>
              </a:rPr>
              <a:t>学期</a:t>
            </a:r>
            <a:endParaRPr lang="en-US" altLang="zh-CN" sz="1700">
              <a:solidFill>
                <a:srgbClr val="FFFFFF"/>
              </a:solidFill>
              <a:latin typeface="Microsoft YaHei UI"/>
            </a:endParaRPr>
          </a:p>
          <a:p>
            <a:pPr lvl="1">
              <a:lnSpc>
                <a:spcPct val="120000"/>
              </a:lnSpc>
              <a:spcBef>
                <a:spcPts val="500"/>
              </a:spcBef>
            </a:pPr>
            <a:endParaRPr lang="en-US" altLang="zh-CN" sz="1700">
              <a:solidFill>
                <a:srgbClr val="FFFFFF"/>
              </a:solidFill>
              <a:latin typeface="Microsoft YaHei U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2000" b="1">
                <a:solidFill>
                  <a:srgbClr val="C00000"/>
                </a:solidFill>
                <a:latin typeface="Microsoft YaHei UI"/>
                <a:ea typeface="Microsoft YaHei UI"/>
              </a:rPr>
              <a:t>社指专项系列活动（社指规定主题，进行统一报销和宣传），总预算一般为</a:t>
            </a:r>
            <a:r>
              <a:rPr lang="en-US" altLang="zh-CN" sz="2000" b="1">
                <a:solidFill>
                  <a:srgbClr val="C00000"/>
                </a:solidFill>
                <a:latin typeface="Microsoft YaHei UI"/>
              </a:rPr>
              <a:t>2000-30000</a:t>
            </a:r>
            <a:r>
              <a:rPr lang="zh-CN" sz="2000" b="1">
                <a:solidFill>
                  <a:srgbClr val="C00000"/>
                </a:solidFill>
                <a:latin typeface="Microsoft YaHei UI"/>
                <a:ea typeface="Microsoft YaHei UI"/>
              </a:rPr>
              <a:t>元</a:t>
            </a:r>
            <a:endParaRPr lang="en-US" altLang="zh-CN" sz="2000" b="1">
              <a:solidFill>
                <a:srgbClr val="FFFFFF"/>
              </a:solidFill>
              <a:latin typeface="Microsoft YaHei U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1700">
                <a:solidFill>
                  <a:srgbClr val="C00000"/>
                </a:solidFill>
                <a:latin typeface="Microsoft YaHei UI"/>
                <a:ea typeface="Microsoft YaHei UI"/>
              </a:rPr>
              <a:t>一学期原则上一次，社团根据规定主题提交活动策划进行评选，鼓励各类型，多社团联合举办。</a:t>
            </a:r>
            <a:endParaRPr lang="en-US" altLang="zh-CN" sz="1700">
              <a:solidFill>
                <a:srgbClr val="FFFFFF"/>
              </a:solidFill>
              <a:latin typeface="Microsoft YaHei U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endParaRPr lang="en-US" altLang="zh-CN" sz="1700">
              <a:solidFill>
                <a:srgbClr val="FFFFFF"/>
              </a:solidFill>
              <a:latin typeface="Microsoft YaHei U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2000">
                <a:latin typeface="Microsoft YaHei UI"/>
                <a:ea typeface="Microsoft YaHei UI"/>
              </a:rPr>
              <a:t>其他部门活动经费（数目不定）</a:t>
            </a:r>
            <a:endParaRPr lang="en-US" altLang="zh-CN" sz="2000">
              <a:solidFill>
                <a:srgbClr val="FFFFFF"/>
              </a:solidFill>
              <a:latin typeface="Microsoft YaHei U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1700">
                <a:latin typeface="Microsoft YaHei UI"/>
                <a:ea typeface="Microsoft YaHei UI"/>
              </a:rPr>
              <a:t>如班团立项（党团素质发展中心）、新生杯（文体中心等）、三个办学单位主办的活动（如</a:t>
            </a:r>
            <a:r>
              <a:rPr lang="en-US" altLang="zh-CN" sz="1700">
                <a:latin typeface="Microsoft YaHei UI"/>
              </a:rPr>
              <a:t>ZJE</a:t>
            </a:r>
            <a:r>
              <a:rPr lang="zh-CN" sz="1700">
                <a:latin typeface="Microsoft YaHei UI"/>
                <a:ea typeface="Microsoft YaHei UI"/>
              </a:rPr>
              <a:t>毅行、</a:t>
            </a:r>
            <a:r>
              <a:rPr lang="en-US" altLang="zh-CN" sz="1700">
                <a:latin typeface="Microsoft YaHei UI"/>
              </a:rPr>
              <a:t>ZJUI</a:t>
            </a:r>
            <a:r>
              <a:rPr lang="zh-CN" sz="1700">
                <a:latin typeface="Microsoft YaHei UI"/>
                <a:ea typeface="Microsoft YaHei UI"/>
              </a:rPr>
              <a:t>龙舟赛等），鼓励自行联系各部门办学单位进行参与。</a:t>
            </a:r>
            <a:endParaRPr lang="en-US" altLang="zh-CN" sz="1700">
              <a:solidFill>
                <a:srgbClr val="FFFFFF"/>
              </a:solidFill>
              <a:latin typeface="Microsoft YaHei U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1700">
                <a:latin typeface="Microsoft YaHei UI"/>
                <a:ea typeface="Microsoft YaHei UI"/>
              </a:rPr>
              <a:t>社指负责监督活动进行，策划报销由相关单位负责。</a:t>
            </a:r>
            <a:endParaRPr lang="en-US" altLang="zh-CN" sz="1700">
              <a:solidFill>
                <a:srgbClr val="FFFFFF"/>
              </a:solidFill>
              <a:latin typeface="Microsoft YaHei UI"/>
            </a:endParaRPr>
          </a:p>
          <a:p>
            <a:pPr algn="l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441596" y="81502"/>
            <a:ext cx="3416320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defRPr/>
            </a:pPr>
            <a:r>
              <a:rPr lang="zh-CN" sz="3600" b="1" spc="600">
                <a:latin typeface="Microsoft YaHei UI"/>
                <a:ea typeface="Microsoft YaHei UI"/>
                <a:cs typeface="+mn-ea"/>
                <a:sym typeface="+mn-lt"/>
              </a:rPr>
              <a:t>报销材料准备</a:t>
            </a:r>
            <a:endParaRPr lang="zh-CN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B5A4C74-6510-74D1-B152-7E059A705DB0}"/>
              </a:ext>
            </a:extLst>
          </p:cNvPr>
          <p:cNvSpPr txBox="1"/>
          <p:nvPr/>
        </p:nvSpPr>
        <p:spPr>
          <a:xfrm>
            <a:off x="908890" y="646779"/>
            <a:ext cx="10976337" cy="75692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zh-CN" altLang="en-US" sz="2400" dirty="0">
                <a:latin typeface="Microsoft YaHei UI"/>
                <a:ea typeface="Microsoft YaHei UI"/>
              </a:rPr>
              <a:t>说明清楚报销到哪个账户</a:t>
            </a: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zh-CN" altLang="en-US" sz="2400" dirty="0">
                <a:latin typeface="Microsoft YaHei UI"/>
                <a:ea typeface="Microsoft YaHei UI"/>
              </a:rPr>
              <a:t>学号、姓名</a:t>
            </a: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zh-CN" altLang="en-US" sz="2400" dirty="0">
                <a:latin typeface="Microsoft YaHei UI"/>
                <a:ea typeface="Microsoft YaHei UI"/>
              </a:rPr>
              <a:t>银行卡类型、银行卡号、开户行</a:t>
            </a:r>
            <a:endParaRPr lang="en-US" altLang="zh-CN" sz="2400" dirty="0">
              <a:latin typeface="Microsoft YaHei UI"/>
              <a:ea typeface="Microsoft YaHei UI"/>
            </a:endParaRP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2400" dirty="0">
                <a:latin typeface="Microsoft YaHei UI"/>
                <a:ea typeface="Microsoft YaHei UI"/>
              </a:rPr>
              <a:t>预决算表</a:t>
            </a:r>
            <a:endParaRPr lang="en-US" altLang="zh-CN" sz="2400" dirty="0">
              <a:latin typeface="Microsoft YaHei UI"/>
              <a:ea typeface="Microsoft YaHei UI"/>
            </a:endParaRP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2400" dirty="0">
                <a:latin typeface="Microsoft YaHei UI"/>
                <a:ea typeface="Microsoft YaHei UI"/>
              </a:rPr>
              <a:t>发票（需要详细物品清单）</a:t>
            </a:r>
            <a:endParaRPr lang="en-US" altLang="zh-CN" sz="2400" dirty="0">
              <a:solidFill>
                <a:srgbClr val="FFFFFF"/>
              </a:solidFill>
              <a:latin typeface="Arial"/>
              <a:ea typeface="Microsoft YaHei UI"/>
              <a:cs typeface="Arial"/>
            </a:endParaRP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2400" dirty="0">
                <a:latin typeface="Microsoft YaHei UI"/>
                <a:ea typeface="Microsoft YaHei UI"/>
              </a:rPr>
              <a:t>每一张发票都要</a:t>
            </a:r>
            <a:r>
              <a:rPr lang="zh-CN" sz="2400" b="1" dirty="0">
                <a:solidFill>
                  <a:srgbClr val="C00000"/>
                </a:solidFill>
                <a:latin typeface="Microsoft YaHei UI"/>
                <a:ea typeface="Microsoft YaHei UI"/>
              </a:rPr>
              <a:t>单张单面</a:t>
            </a:r>
            <a:r>
              <a:rPr lang="zh-CN" sz="2400" dirty="0">
                <a:latin typeface="Microsoft YaHei UI"/>
                <a:ea typeface="Microsoft YaHei UI"/>
              </a:rPr>
              <a:t>打印，且</a:t>
            </a:r>
            <a:r>
              <a:rPr lang="zh-CN" sz="2400" b="1" dirty="0">
                <a:solidFill>
                  <a:srgbClr val="C00000"/>
                </a:solidFill>
                <a:latin typeface="Microsoft YaHei UI"/>
                <a:ea typeface="Microsoft YaHei UI"/>
              </a:rPr>
              <a:t>社长和活动负责人正面签名+学号</a:t>
            </a:r>
            <a:endParaRPr lang="en-US" altLang="zh-CN" sz="2400" b="1" dirty="0">
              <a:solidFill>
                <a:srgbClr val="C00000"/>
              </a:solidFill>
              <a:latin typeface="Microsoft YaHei UI"/>
              <a:ea typeface="Microsoft YaHei UI"/>
            </a:endParaRPr>
          </a:p>
          <a:p>
            <a:pPr marL="742950" lvl="1" indent="-285750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Microsoft YaHei UI"/>
                <a:ea typeface="Microsoft YaHei UI"/>
                <a:cs typeface="Arial"/>
              </a:rPr>
              <a:t>每张发票后请附上支付记录</a:t>
            </a:r>
            <a:endParaRPr lang="en-US" altLang="zh-CN" sz="2400" dirty="0">
              <a:solidFill>
                <a:srgbClr val="FFFFFF"/>
              </a:solidFill>
              <a:latin typeface="Arial"/>
              <a:ea typeface="Microsoft YaHei UI"/>
              <a:cs typeface="Arial"/>
            </a:endParaRPr>
          </a:p>
          <a:p>
            <a:pPr marL="285750" indent="-285750" algn="l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zh-CN" sz="2400" dirty="0">
                <a:latin typeface="Microsoft YaHei UI"/>
                <a:ea typeface="Microsoft YaHei UI"/>
              </a:rPr>
              <a:t>活动记录证明（推文/活动照片）</a:t>
            </a:r>
            <a:endParaRPr lang="en-US" altLang="zh-CN" sz="2400" dirty="0">
              <a:latin typeface="Microsoft YaHei UI"/>
              <a:ea typeface="Microsoft YaHei UI"/>
            </a:endParaRPr>
          </a:p>
          <a:p>
            <a:pPr marL="285750" indent="-285750" algn="l">
              <a:lnSpc>
                <a:spcPct val="150000"/>
              </a:lnSpc>
              <a:spcBef>
                <a:spcPts val="1000"/>
              </a:spcBef>
              <a:buFont typeface="Arial"/>
              <a:buChar char="•"/>
            </a:pPr>
            <a:r>
              <a:rPr lang="zh-CN" altLang="en-US" sz="2400" b="1" dirty="0">
                <a:solidFill>
                  <a:srgbClr val="C00000"/>
                </a:solidFill>
                <a:latin typeface="Microsoft YaHei UI"/>
                <a:ea typeface="Microsoft YaHei UI"/>
              </a:rPr>
              <a:t>以上材料请按顺序整理好后用回形针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/>
                <a:ea typeface="Microsoft YaHei UI"/>
              </a:rPr>
              <a:t>/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/>
                <a:ea typeface="Microsoft YaHei UI"/>
              </a:rPr>
              <a:t>夹子固定</a:t>
            </a:r>
            <a:endParaRPr lang="en-US" altLang="zh-CN" sz="2400" b="1" dirty="0">
              <a:solidFill>
                <a:srgbClr val="C00000"/>
              </a:solidFill>
              <a:latin typeface="Microsoft YaHei UI"/>
              <a:ea typeface="Microsoft YaHei UI"/>
            </a:endParaRP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zh-CN" sz="2400" dirty="0">
              <a:latin typeface="Microsoft YaHei UI"/>
              <a:ea typeface="Microsoft YaHei U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zh-CN" sz="2800" dirty="0">
              <a:latin typeface="Microsoft YaHei UI"/>
              <a:ea typeface="Microsoft YaHei UI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zh-CN" altLang="en-US" sz="2600" dirty="0">
              <a:latin typeface="Microsoft YaHei UI"/>
              <a:ea typeface="Microsoft YaHei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11DF17-AF91-A2CA-3498-1F4FDE1C261E}"/>
              </a:ext>
            </a:extLst>
          </p:cNvPr>
          <p:cNvSpPr txBox="1"/>
          <p:nvPr/>
        </p:nvSpPr>
        <p:spPr>
          <a:xfrm>
            <a:off x="2497393" y="2380389"/>
            <a:ext cx="71972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发票类型：企业</a:t>
            </a:r>
            <a:endParaRPr lang="en-US" altLang="zh-CN" sz="3600" dirty="0"/>
          </a:p>
          <a:p>
            <a:r>
              <a:rPr lang="zh-CN" altLang="en-US" sz="3600" dirty="0"/>
              <a:t>发票抬头：浙江大学</a:t>
            </a:r>
            <a:endParaRPr lang="en-US" altLang="zh-CN" sz="3600" dirty="0"/>
          </a:p>
          <a:p>
            <a:r>
              <a:rPr lang="zh-CN" altLang="en-US" sz="3600" dirty="0"/>
              <a:t>税号：</a:t>
            </a:r>
            <a:r>
              <a:rPr lang="en-US" altLang="zh-CN" sz="3600" dirty="0"/>
              <a:t>12100000470095016Q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69380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6DA806B8-BF7B-B310-1CCF-ABDA6A9CBA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7967" y="201673"/>
            <a:ext cx="5823748" cy="6454654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DF7CE6DB-C215-06E8-E00B-90299ACB69F3}"/>
              </a:ext>
            </a:extLst>
          </p:cNvPr>
          <p:cNvSpPr txBox="1"/>
          <p:nvPr/>
        </p:nvSpPr>
        <p:spPr>
          <a:xfrm>
            <a:off x="3947286" y="532481"/>
            <a:ext cx="1231393" cy="243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0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5" b="0" i="0" u="none" strike="noStrike" kern="1200" cap="none" spc="0" normalizeH="0" baseline="0" noProof="0" dirty="0" err="1">
                <a:ln>
                  <a:noFill/>
                </a:ln>
                <a:solidFill>
                  <a:srgbClr val="FF1616"/>
                </a:solidFill>
                <a:effectLst/>
                <a:uLnTx/>
                <a:uFillTx/>
                <a:latin typeface="微软雅黑"/>
                <a:ea typeface="WenQuanYi"/>
                <a:cs typeface="+mn-cs"/>
              </a:rPr>
              <a:t>填表格时间</a:t>
            </a: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FF1616"/>
              </a:solidFill>
              <a:effectLst/>
              <a:uLnTx/>
              <a:uFillTx/>
              <a:latin typeface="微软雅黑"/>
              <a:ea typeface="WenQuanYi"/>
              <a:cs typeface="+mn-cs"/>
            </a:endParaRPr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1BFAC045-2950-4999-4880-CA0528E276B7}"/>
              </a:ext>
            </a:extLst>
          </p:cNvPr>
          <p:cNvSpPr txBox="1"/>
          <p:nvPr/>
        </p:nvSpPr>
        <p:spPr>
          <a:xfrm>
            <a:off x="3361791" y="2240409"/>
            <a:ext cx="508000" cy="16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1616"/>
                </a:solidFill>
                <a:effectLst/>
                <a:uLnTx/>
                <a:uFillTx/>
                <a:latin typeface="微软雅黑"/>
                <a:ea typeface="WenQuanYi"/>
                <a:cs typeface="+mn-cs"/>
              </a:rPr>
              <a:t>报销金额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CF171907-5462-ED06-0508-8556EA381D90}"/>
              </a:ext>
            </a:extLst>
          </p:cNvPr>
          <p:cNvSpPr txBox="1"/>
          <p:nvPr/>
        </p:nvSpPr>
        <p:spPr>
          <a:xfrm>
            <a:off x="4251832" y="2240409"/>
            <a:ext cx="508000" cy="16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1616"/>
                </a:solidFill>
                <a:effectLst/>
                <a:uLnTx/>
                <a:uFillTx/>
                <a:latin typeface="微软雅黑"/>
                <a:ea typeface="WenQuanYi"/>
                <a:cs typeface="+mn-cs"/>
              </a:rPr>
              <a:t>报销金额</a:t>
            </a:r>
          </a:p>
        </p:txBody>
      </p:sp>
      <p:sp>
        <p:nvSpPr>
          <p:cNvPr id="16" name="AutoShape 6">
            <a:extLst>
              <a:ext uri="{FF2B5EF4-FFF2-40B4-BE49-F238E27FC236}">
                <a16:creationId xmlns:a16="http://schemas.microsoft.com/office/drawing/2014/main" id="{02E8CDDF-0769-A22A-E7B9-C2330FBFEB16}"/>
              </a:ext>
            </a:extLst>
          </p:cNvPr>
          <p:cNvSpPr/>
          <p:nvPr/>
        </p:nvSpPr>
        <p:spPr>
          <a:xfrm>
            <a:off x="5717435" y="2329309"/>
            <a:ext cx="648917" cy="0"/>
          </a:xfrm>
          <a:prstGeom prst="line">
            <a:avLst/>
          </a:prstGeom>
          <a:ln w="38100" cap="flat">
            <a:solidFill>
              <a:srgbClr val="FF1616"/>
            </a:solidFill>
            <a:prstDash val="solid"/>
            <a:headEnd type="none" w="sm" len="sm"/>
            <a:tailEnd type="triangle" w="lg" len="med"/>
          </a:ln>
        </p:spPr>
        <p:txBody>
          <a:bodyPr/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97E1E516-BC89-2ED0-F970-9E1E7D95B742}"/>
              </a:ext>
            </a:extLst>
          </p:cNvPr>
          <p:cNvSpPr txBox="1"/>
          <p:nvPr/>
        </p:nvSpPr>
        <p:spPr>
          <a:xfrm>
            <a:off x="6693889" y="1996145"/>
            <a:ext cx="4812311" cy="1587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31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5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需罗列清楚所买物品和数量，格式</a:t>
            </a:r>
            <a:r>
              <a:rPr kumimoji="0" lang="en-US" sz="22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：【</a:t>
            </a:r>
            <a:r>
              <a:rPr kumimoji="0" lang="en-US" sz="2265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物品：单价</a:t>
            </a:r>
            <a:r>
              <a:rPr kumimoji="0" lang="en-US" sz="22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*</a:t>
            </a:r>
            <a:r>
              <a:rPr kumimoji="0" lang="en-US" sz="2265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数量</a:t>
            </a:r>
            <a:r>
              <a:rPr kumimoji="0" lang="en-US" sz="22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】</a:t>
            </a:r>
          </a:p>
          <a:p>
            <a:pPr marL="0" marR="0" lvl="0" indent="0" algn="ctr" defTabSz="914400" rtl="0" eaLnBrk="1" fontAlgn="auto" latinLnBrk="0" hangingPunct="1">
              <a:lnSpc>
                <a:spcPts val="31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65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31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65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发票请按照所罗列的物品价格顺序排</a:t>
            </a:r>
            <a:endParaRPr kumimoji="0" lang="en-US" sz="2265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638CE794-A25A-0AC1-9E46-4B9323D64595}"/>
              </a:ext>
            </a:extLst>
          </p:cNvPr>
          <p:cNvSpPr txBox="1"/>
          <p:nvPr/>
        </p:nvSpPr>
        <p:spPr>
          <a:xfrm>
            <a:off x="4562982" y="5859781"/>
            <a:ext cx="609600" cy="19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1616"/>
                </a:solidFill>
                <a:effectLst/>
                <a:uLnTx/>
                <a:uFillTx/>
                <a:latin typeface="微软雅黑"/>
                <a:ea typeface="WenQuanYi"/>
                <a:cs typeface="+mn-cs"/>
              </a:rPr>
              <a:t>无需填写</a:t>
            </a: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BC82583B-6D20-E383-3073-D023C221328D}"/>
              </a:ext>
            </a:extLst>
          </p:cNvPr>
          <p:cNvSpPr txBox="1"/>
          <p:nvPr/>
        </p:nvSpPr>
        <p:spPr>
          <a:xfrm>
            <a:off x="7036055" y="4362741"/>
            <a:ext cx="4127977" cy="781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31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65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预决算表中的报销金额需</a:t>
            </a:r>
            <a:r>
              <a:rPr kumimoji="0" lang="en-US" sz="2265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小于或等于</a:t>
            </a:r>
            <a:r>
              <a:rPr kumimoji="0" lang="en-US" sz="2265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策划表中填写的预算金额</a:t>
            </a:r>
            <a:endParaRPr kumimoji="0" lang="en-US" sz="2265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5A6BBBFD-6382-E7F7-37A6-3F1E3289B71A}"/>
              </a:ext>
            </a:extLst>
          </p:cNvPr>
          <p:cNvSpPr txBox="1"/>
          <p:nvPr/>
        </p:nvSpPr>
        <p:spPr>
          <a:xfrm>
            <a:off x="3521195" y="5512788"/>
            <a:ext cx="508000" cy="162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FF1616"/>
                </a:solidFill>
                <a:effectLst/>
                <a:uLnTx/>
                <a:uFillTx/>
                <a:latin typeface="微软雅黑"/>
                <a:ea typeface="WenQuanYi"/>
                <a:cs typeface="+mn-cs"/>
              </a:rPr>
              <a:t>必须要填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1616"/>
              </a:solidFill>
              <a:effectLst/>
              <a:uLnTx/>
              <a:uFillTx/>
              <a:latin typeface="微软雅黑"/>
              <a:ea typeface="WenQuanYi"/>
              <a:cs typeface="+mn-cs"/>
            </a:endParaRPr>
          </a:p>
        </p:txBody>
      </p:sp>
      <p:sp>
        <p:nvSpPr>
          <p:cNvPr id="21" name="文本框 10">
            <a:extLst>
              <a:ext uri="{FF2B5EF4-FFF2-40B4-BE49-F238E27FC236}">
                <a16:creationId xmlns:a16="http://schemas.microsoft.com/office/drawing/2014/main" id="{F21E66DB-083F-3611-6569-25A83E0263CD}"/>
              </a:ext>
            </a:extLst>
          </p:cNvPr>
          <p:cNvSpPr txBox="1"/>
          <p:nvPr/>
        </p:nvSpPr>
        <p:spPr>
          <a:xfrm>
            <a:off x="6851715" y="5642148"/>
            <a:ext cx="5400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highlight>
                  <a:srgbClr val="FFFF00"/>
                </a:highlight>
                <a:uLnTx/>
                <a:uFillTx/>
                <a:latin typeface="微软雅黑"/>
                <a:ea typeface="微软雅黑"/>
                <a:cs typeface="+mn-cs"/>
              </a:rPr>
              <a:t>总之，填的越规范，报销的越快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CF689C-7750-5A1C-9E6C-552D7F1FA5C6}"/>
              </a:ext>
            </a:extLst>
          </p:cNvPr>
          <p:cNvSpPr txBox="1"/>
          <p:nvPr/>
        </p:nvSpPr>
        <p:spPr>
          <a:xfrm>
            <a:off x="7013323" y="180284"/>
            <a:ext cx="392479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经费项目号码不需要填</a:t>
            </a:r>
          </a:p>
          <a:p>
            <a:endParaRPr lang="zh-CN" altLang="en-US" sz="2000" dirty="0"/>
          </a:p>
          <a:p>
            <a:r>
              <a:rPr lang="zh-CN" altLang="en-US" sz="2000" dirty="0"/>
              <a:t>食品、奖品需要名单</a:t>
            </a:r>
          </a:p>
          <a:p>
            <a:endParaRPr lang="zh-CN" altLang="en-US" sz="2000" dirty="0"/>
          </a:p>
          <a:p>
            <a:r>
              <a:rPr lang="zh-CN" altLang="en-US" sz="2000" dirty="0"/>
              <a:t>食品费用不超过总金额的</a:t>
            </a:r>
            <a:r>
              <a:rPr lang="en-US" altLang="zh-CN" sz="2000" dirty="0"/>
              <a:t>20%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21885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框 18"/>
          <p:cNvSpPr txBox="1"/>
          <p:nvPr/>
        </p:nvSpPr>
        <p:spPr>
          <a:xfrm>
            <a:off x="5016119" y="81503"/>
            <a:ext cx="2907145" cy="111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sz="3600" b="1" spc="600">
                <a:latin typeface="Microsoft YaHei UI"/>
                <a:ea typeface="Microsoft YaHei UI"/>
                <a:cs typeface="+mn-ea"/>
                <a:sym typeface="+mn-lt"/>
              </a:rPr>
              <a:t>报销流程</a:t>
            </a:r>
            <a:endParaRPr lang="zh-CN" sz="3600" spc="600">
              <a:latin typeface="Microsoft YaHei UI"/>
              <a:ea typeface="Microsoft YaHei UI"/>
              <a:cs typeface="+mn-ea"/>
              <a:sym typeface="+mn-lt"/>
            </a:endParaRPr>
          </a:p>
          <a:p>
            <a:pPr defTabSz="914400">
              <a:defRPr/>
            </a:pPr>
            <a:endParaRPr lang="zh-CN" altLang="en-US" sz="2800" b="1" spc="600">
              <a:cs typeface="+mn-ea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74F7EE3-8941-ED27-976D-EEE865C6C5E6}"/>
              </a:ext>
            </a:extLst>
          </p:cNvPr>
          <p:cNvSpPr txBox="1"/>
          <p:nvPr/>
        </p:nvSpPr>
        <p:spPr>
          <a:xfrm>
            <a:off x="259472" y="1341861"/>
            <a:ext cx="11322927" cy="48693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buFont typeface=""/>
              <a:buChar char="•"/>
            </a:pPr>
            <a:r>
              <a:rPr lang="zh-CN" sz="2400" baseline="0" dirty="0">
                <a:latin typeface="Arial"/>
                <a:ea typeface="Microsoft YaHei UI"/>
                <a:cs typeface="Arial"/>
              </a:rPr>
              <a:t>提交所有材料到社指办公室</a:t>
            </a:r>
            <a:r>
              <a:rPr lang="zh-CN" sz="2400" baseline="0" dirty="0">
                <a:solidFill>
                  <a:srgbClr val="C00000"/>
                </a:solidFill>
                <a:latin typeface="Arial"/>
                <a:ea typeface="Microsoft YaHei UI"/>
                <a:cs typeface="Arial"/>
              </a:rPr>
              <a:t>（</a:t>
            </a:r>
            <a:r>
              <a:rPr lang="zh-CN" sz="2400" b="1" baseline="0" dirty="0">
                <a:solidFill>
                  <a:srgbClr val="C00000"/>
                </a:solidFill>
                <a:latin typeface="Arial"/>
                <a:ea typeface="Microsoft YaHei UI"/>
                <a:cs typeface="Arial"/>
              </a:rPr>
              <a:t>食堂三楼</a:t>
            </a:r>
            <a:r>
              <a:rPr lang="en-US" sz="3200" b="1" baseline="0" dirty="0">
                <a:solidFill>
                  <a:srgbClr val="C00000"/>
                </a:solidFill>
                <a:latin typeface="Microsoft YaHei UI"/>
                <a:ea typeface="Arial"/>
                <a:cs typeface="Arial"/>
              </a:rPr>
              <a:t>325</a:t>
            </a:r>
            <a:r>
              <a:rPr lang="zh-CN" altLang="en-US" sz="3200" b="1" dirty="0">
                <a:solidFill>
                  <a:srgbClr val="C00000"/>
                </a:solidFill>
                <a:latin typeface="Microsoft YaHei UI"/>
                <a:ea typeface="Arial"/>
                <a:cs typeface="Arial"/>
              </a:rPr>
              <a:t>最里面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/>
                <a:ea typeface="Arial"/>
                <a:cs typeface="Arial"/>
              </a:rPr>
              <a:t>的桌</a:t>
            </a:r>
            <a:r>
              <a:rPr lang="en-US" sz="2400" b="1" baseline="0" dirty="0" err="1">
                <a:solidFill>
                  <a:srgbClr val="C00000"/>
                </a:solidFill>
                <a:latin typeface="Microsoft YaHei UI"/>
                <a:ea typeface="Arial"/>
                <a:cs typeface="Arial"/>
              </a:rPr>
              <a:t>子上</a:t>
            </a:r>
            <a:r>
              <a:rPr lang="zh-CN" altLang="en-US" sz="2400" b="1" baseline="0" dirty="0">
                <a:solidFill>
                  <a:srgbClr val="C00000"/>
                </a:solidFill>
                <a:latin typeface="Microsoft YaHei UI"/>
                <a:ea typeface="Arial"/>
                <a:cs typeface="Arial"/>
              </a:rPr>
              <a:t>，贴有“报销材料未审核”的便利贴处</a:t>
            </a:r>
            <a:r>
              <a:rPr lang="zh-CN" sz="2400" baseline="0" dirty="0">
                <a:solidFill>
                  <a:srgbClr val="C00000"/>
                </a:solidFill>
                <a:latin typeface="Arial"/>
                <a:ea typeface="Microsoft YaHei UI"/>
                <a:cs typeface="Arial"/>
              </a:rPr>
              <a:t>）</a:t>
            </a:r>
            <a:r>
              <a:rPr lang="zh-CN" sz="2400" baseline="0" dirty="0">
                <a:latin typeface="Arial"/>
                <a:ea typeface="Microsoft YaHei UI"/>
                <a:cs typeface="Arial"/>
              </a:rPr>
              <a:t>，并拍照告诉财务组负责联系与审核的干事（确定后会在社长群里告知大家）</a:t>
            </a:r>
            <a:r>
              <a:rPr lang="zh-CN" sz="2400" dirty="0">
                <a:latin typeface="Arial"/>
                <a:ea typeface="Microsoft YaHei UI"/>
                <a:cs typeface="Arial"/>
              </a:rPr>
              <a:t>​</a:t>
            </a:r>
            <a:r>
              <a:rPr lang="zh-CN" altLang="en-US" sz="2400" dirty="0">
                <a:solidFill>
                  <a:srgbClr val="C00000"/>
                </a:solidFill>
                <a:latin typeface="Arial"/>
                <a:ea typeface="Microsoft YaHei UI"/>
                <a:cs typeface="Arial"/>
              </a:rPr>
              <a:t>请务必将报销材料放在正确位置，否则出现材料丢失等问题需各社团自行解决</a:t>
            </a:r>
            <a:endParaRPr lang="zh-CN" sz="2400" dirty="0">
              <a:solidFill>
                <a:srgbClr val="C00000"/>
              </a:solidFill>
              <a:latin typeface="Arial"/>
              <a:ea typeface="Microsoft YaHei UI"/>
              <a:cs typeface="Arial"/>
            </a:endParaRPr>
          </a:p>
          <a:p>
            <a:pPr lvl="0" rtl="0"/>
            <a:endParaRPr lang="zh-CN" sz="2400" dirty="0">
              <a:latin typeface="Arial"/>
              <a:ea typeface="Microsoft YaHei UI"/>
              <a:cs typeface="Arial"/>
            </a:endParaRPr>
          </a:p>
          <a:p>
            <a:pPr marL="228600" lvl="0" indent="-228600" rtl="0">
              <a:buFont typeface=""/>
              <a:buChar char="•"/>
            </a:pPr>
            <a:r>
              <a:rPr lang="zh-CN" sz="2400" baseline="0" dirty="0">
                <a:latin typeface="Arial"/>
                <a:ea typeface="Microsoft YaHei UI"/>
                <a:cs typeface="Arial"/>
              </a:rPr>
              <a:t>干事审核材料是否齐全、是否符合规定，完成审核后会通知各社团财务负责人</a:t>
            </a:r>
            <a:r>
              <a:rPr lang="en-US" sz="2400" dirty="0">
                <a:latin typeface="Microsoft YaHei UI"/>
                <a:ea typeface="Arial"/>
                <a:cs typeface="Arial"/>
              </a:rPr>
              <a:t>​</a:t>
            </a:r>
          </a:p>
          <a:p>
            <a:pPr lvl="0" rtl="0"/>
            <a:endParaRPr lang="en-US" sz="2400" dirty="0">
              <a:latin typeface="Microsoft YaHei UI"/>
              <a:ea typeface="Arial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zh-CN" sz="2400" baseline="0" dirty="0">
                <a:latin typeface="Arial"/>
                <a:ea typeface="Microsoft YaHei UI"/>
                <a:cs typeface="Arial"/>
              </a:rPr>
              <a:t>审核通过之后会走后续流程</a:t>
            </a:r>
            <a:r>
              <a:rPr lang="en-US" sz="2400" dirty="0">
                <a:latin typeface="Microsoft YaHei UI"/>
                <a:ea typeface="Arial"/>
                <a:cs typeface="Arial"/>
              </a:rPr>
              <a:t>​</a:t>
            </a:r>
            <a:endParaRPr lang="en-US" altLang="zh-CN" sz="2400" dirty="0">
              <a:latin typeface="Microsoft YaHei UI"/>
              <a:ea typeface="Microsoft YaHei UI"/>
              <a:cs typeface="Arial"/>
            </a:endParaRPr>
          </a:p>
          <a:p>
            <a:pPr marL="685800" lvl="1" indent="-228600">
              <a:buFont typeface=""/>
              <a:buChar char="•"/>
            </a:pPr>
            <a:r>
              <a:rPr lang="zh-CN" sz="2000" baseline="0" dirty="0">
                <a:latin typeface="Arial"/>
                <a:ea typeface="Microsoft YaHei UI"/>
                <a:cs typeface="Arial"/>
              </a:rPr>
              <a:t>一般来说，大概需要一周左右的时间</a:t>
            </a:r>
            <a:r>
              <a:rPr lang="en-US" sz="2000" dirty="0">
                <a:latin typeface="Microsoft YaHei UI"/>
                <a:ea typeface="Arial"/>
                <a:cs typeface="Arial"/>
              </a:rPr>
              <a:t>​</a:t>
            </a:r>
            <a:endParaRPr lang="en-US" dirty="0"/>
          </a:p>
          <a:p>
            <a:pPr marL="685800" lvl="2" indent="-228600" rtl="0">
              <a:buFont typeface=""/>
              <a:buChar char="•"/>
            </a:pPr>
            <a:r>
              <a:rPr lang="zh-CN" sz="2000" b="1" baseline="0" dirty="0">
                <a:latin typeface="Arial"/>
                <a:ea typeface="Microsoft YaHei UI"/>
                <a:cs typeface="Arial"/>
              </a:rPr>
              <a:t>如果已经通过审核，报销迟迟未到，需要各社团主动跟进进度</a:t>
            </a:r>
            <a:r>
              <a:rPr lang="en-US" sz="2000" dirty="0">
                <a:latin typeface="Microsoft YaHei UI"/>
                <a:ea typeface="Arial"/>
                <a:cs typeface="Arial"/>
              </a:rPr>
              <a:t>​</a:t>
            </a:r>
          </a:p>
          <a:p>
            <a:pPr lvl="0" rtl="0"/>
            <a:endParaRPr lang="en-US" sz="2400" dirty="0">
              <a:latin typeface="Microsoft YaHei UI"/>
              <a:ea typeface="Arial"/>
              <a:cs typeface="Arial"/>
            </a:endParaRPr>
          </a:p>
          <a:p>
            <a:pPr marL="228600" lvl="0" indent="-228600" rtl="0">
              <a:buFont typeface=""/>
              <a:buChar char="•"/>
            </a:pPr>
            <a:r>
              <a:rPr lang="zh-CN" sz="2400" b="1" baseline="0" dirty="0">
                <a:solidFill>
                  <a:schemeClr val="accent1"/>
                </a:solidFill>
                <a:latin typeface="Arial"/>
                <a:ea typeface="Microsoft YaHei UI"/>
                <a:cs typeface="Arial"/>
              </a:rPr>
              <a:t>日常报销须在活动结束后一个月内完成材料提交审核</a:t>
            </a:r>
            <a:r>
              <a:rPr lang="zh-CN" sz="2400" baseline="0" dirty="0">
                <a:latin typeface="Arial"/>
                <a:ea typeface="Microsoft YaHei UI"/>
                <a:cs typeface="Arial"/>
              </a:rPr>
              <a:t>，逾期的发票</a:t>
            </a:r>
            <a:r>
              <a:rPr lang="zh-CN" sz="2400" b="1" baseline="0" dirty="0">
                <a:solidFill>
                  <a:srgbClr val="C00000"/>
                </a:solidFill>
                <a:latin typeface="Arial"/>
                <a:ea typeface="Microsoft YaHei UI"/>
                <a:cs typeface="Arial"/>
              </a:rPr>
              <a:t>不再受理</a:t>
            </a:r>
            <a:r>
              <a:rPr lang="zh-CN" sz="2400" baseline="0" dirty="0">
                <a:latin typeface="Arial"/>
                <a:ea typeface="Microsoft YaHei UI"/>
                <a:cs typeface="Arial"/>
              </a:rPr>
              <a:t>，各社团需自行解决。</a:t>
            </a:r>
            <a:r>
              <a:rPr lang="en-US" sz="2400" dirty="0">
                <a:latin typeface="Microsoft YaHei UI"/>
                <a:ea typeface="Arial"/>
                <a:cs typeface="Arial"/>
              </a:rPr>
              <a:t>​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2"/>
          <p:cNvSpPr txBox="1"/>
          <p:nvPr>
            <p:custDataLst>
              <p:tags r:id="rId1"/>
            </p:custDataLst>
          </p:nvPr>
        </p:nvSpPr>
        <p:spPr>
          <a:xfrm>
            <a:off x="3641630" y="2326516"/>
            <a:ext cx="4621101" cy="1102484"/>
          </a:xfrm>
          <a:prstGeom prst="rect">
            <a:avLst/>
          </a:prstGeom>
          <a:noFill/>
        </p:spPr>
        <p:txBody>
          <a:bodyPr wrap="square" lIns="85983" tIns="42991" rIns="85983" bIns="4299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49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zh-CN" altLang="en-US" sz="66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cs typeface="+mn-ea"/>
                <a:sym typeface="+mn-lt"/>
              </a:rPr>
              <a:t>宣传与审核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F5CF8F7-3C1A-9715-A10C-8E7719BEC2A2}"/>
              </a:ext>
            </a:extLst>
          </p:cNvPr>
          <p:cNvSpPr txBox="1"/>
          <p:nvPr/>
        </p:nvSpPr>
        <p:spPr>
          <a:xfrm>
            <a:off x="1194179" y="2214255"/>
            <a:ext cx="8386549" cy="2981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kumimoji="1" sz="2400"/>
            </a:lvl1pPr>
          </a:lstStyle>
          <a:p>
            <a:pPr marL="457200" indent="-457200">
              <a:lnSpc>
                <a:spcPct val="100000"/>
              </a:lnSpc>
              <a:buAutoNum type="arabicPeriod"/>
            </a:pPr>
            <a:r>
              <a:rPr lang="zh-CN" altLang="en-US" dirty="0"/>
              <a:t>社团公众号推文</a:t>
            </a:r>
            <a:endParaRPr lang="en-US" altLang="zh-CN" dirty="0"/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社团公众号需要</a:t>
            </a:r>
            <a:r>
              <a:rPr lang="zh-CN" altLang="en-US" b="1" dirty="0"/>
              <a:t>登记</a:t>
            </a:r>
            <a:endParaRPr lang="en-US" altLang="zh-CN" b="1" dirty="0"/>
          </a:p>
          <a:p>
            <a:pPr>
              <a:lnSpc>
                <a:spcPct val="100000"/>
              </a:lnSpc>
            </a:pPr>
            <a:endParaRPr lang="en-US" altLang="zh-CN" b="1" dirty="0"/>
          </a:p>
          <a:p>
            <a:pPr>
              <a:lnSpc>
                <a:spcPct val="100000"/>
              </a:lnSpc>
            </a:pPr>
            <a:r>
              <a:rPr lang="zh-CN" altLang="en-US" dirty="0"/>
              <a:t>无需社指审核，社团成员自行发布，社指干事定期审核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1708E6-F71E-0D5B-D12F-9FBE692BD010}"/>
              </a:ext>
            </a:extLst>
          </p:cNvPr>
          <p:cNvSpPr txBox="1"/>
          <p:nvPr/>
        </p:nvSpPr>
        <p:spPr>
          <a:xfrm>
            <a:off x="1808275" y="610326"/>
            <a:ext cx="32681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b="1" dirty="0"/>
              <a:t>推文宣传</a:t>
            </a:r>
          </a:p>
        </p:txBody>
      </p:sp>
    </p:spTree>
    <p:extLst>
      <p:ext uri="{BB962C8B-B14F-4D97-AF65-F5344CB8AC3E}">
        <p14:creationId xmlns:p14="http://schemas.microsoft.com/office/powerpoint/2010/main" val="2447595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1EBAE7-EF42-D26C-6747-BE4498822C8D}"/>
              </a:ext>
            </a:extLst>
          </p:cNvPr>
          <p:cNvSpPr txBox="1"/>
          <p:nvPr/>
        </p:nvSpPr>
        <p:spPr>
          <a:xfrm>
            <a:off x="1808275" y="610326"/>
            <a:ext cx="32681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b="1" dirty="0"/>
              <a:t>推文宣传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E8F31F-1113-7824-D76D-A370C0FBBA6C}"/>
              </a:ext>
            </a:extLst>
          </p:cNvPr>
          <p:cNvSpPr txBox="1"/>
          <p:nvPr/>
        </p:nvSpPr>
        <p:spPr>
          <a:xfrm>
            <a:off x="1014494" y="1637763"/>
            <a:ext cx="91735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zh-CN" altLang="en-US" sz="2400" dirty="0"/>
              <a:t>社团公众号要求：</a:t>
            </a:r>
            <a:endParaRPr kumimoji="1" lang="en-US" altLang="zh-CN" sz="2400" dirty="0"/>
          </a:p>
          <a:p>
            <a:pPr marL="0" indent="0">
              <a:buNone/>
            </a:pP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 err="1"/>
              <a:t>公众号署名</a:t>
            </a:r>
            <a:r>
              <a:rPr kumimoji="1" lang="en-US" altLang="zh-CN" sz="2400" b="1" dirty="0" err="1"/>
              <a:t>不可以</a:t>
            </a:r>
            <a:r>
              <a:rPr kumimoji="1" lang="en-US" altLang="zh-CN" sz="2400" dirty="0" err="1"/>
              <a:t>带有浙江大学国际校区等前缀</a:t>
            </a:r>
            <a:r>
              <a:rPr kumimoji="1" lang="en-US" altLang="zh-CN" sz="2400" dirty="0"/>
              <a:t>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dirty="0"/>
              <a:t>若</a:t>
            </a:r>
            <a:r>
              <a:rPr kumimoji="1" lang="zh-CN" altLang="en-US" sz="2400" dirty="0"/>
              <a:t>推文</a:t>
            </a:r>
            <a:r>
              <a:rPr kumimoji="1" lang="en-US" altLang="zh-CN" sz="2400" dirty="0" err="1"/>
              <a:t>发布在社团自己的公众号里，不需要把推文发给社指审核，但社指干事会定期检查公众号里的内容，</a:t>
            </a:r>
            <a:r>
              <a:rPr kumimoji="1" lang="en-US" altLang="zh-CN" sz="2400" b="1" dirty="0" err="1"/>
              <a:t>如发现不实、不积极内容</a:t>
            </a:r>
            <a:r>
              <a:rPr kumimoji="1" lang="en-US" altLang="zh-CN" sz="2400" dirty="0" err="1"/>
              <a:t>，社指会给予警告</a:t>
            </a:r>
            <a:r>
              <a:rPr kumimoji="1" lang="zh-CN" altLang="en-US" sz="2400" dirty="0"/>
              <a:t>，并取消该社团拥有公众号的权利。</a:t>
            </a: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 err="1"/>
              <a:t>筹备社团需在社团名后标注</a:t>
            </a:r>
            <a:r>
              <a:rPr kumimoji="1" lang="en-US" altLang="zh-CN" sz="2400" dirty="0"/>
              <a:t>“（筹）” </a:t>
            </a:r>
          </a:p>
        </p:txBody>
      </p:sp>
    </p:spTree>
    <p:extLst>
      <p:ext uri="{BB962C8B-B14F-4D97-AF65-F5344CB8AC3E}">
        <p14:creationId xmlns:p14="http://schemas.microsoft.com/office/powerpoint/2010/main" val="950173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1B7E00A5-27B4-5DC1-0620-8E719BBB7EF2}"/>
              </a:ext>
            </a:extLst>
          </p:cNvPr>
          <p:cNvSpPr txBox="1"/>
          <p:nvPr/>
        </p:nvSpPr>
        <p:spPr>
          <a:xfrm>
            <a:off x="1808275" y="610326"/>
            <a:ext cx="32681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b="1" dirty="0"/>
              <a:t>推文宣传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DAB000-0B0F-E161-ABE8-FA17958505BC}"/>
              </a:ext>
            </a:extLst>
          </p:cNvPr>
          <p:cNvSpPr txBox="1"/>
          <p:nvPr/>
        </p:nvSpPr>
        <p:spPr>
          <a:xfrm>
            <a:off x="747917" y="1269378"/>
            <a:ext cx="11682919" cy="261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2400" dirty="0"/>
          </a:p>
          <a:p>
            <a:pPr>
              <a:lnSpc>
                <a:spcPct val="200000"/>
              </a:lnSpc>
            </a:pPr>
            <a:r>
              <a:rPr kumimoji="1" lang="en-US" altLang="zh-CN" sz="2400" dirty="0"/>
              <a:t>2.  </a:t>
            </a:r>
            <a:r>
              <a:rPr kumimoji="1" lang="en-US" altLang="zh-CN" sz="2400" dirty="0" err="1"/>
              <a:t>Shaining</a:t>
            </a:r>
            <a:r>
              <a:rPr kumimoji="1" lang="zh-CN" altLang="en-US" sz="2400" dirty="0"/>
              <a:t>公众号推文</a:t>
            </a:r>
            <a:endParaRPr kumimoji="1" lang="en-US" altLang="zh-CN" sz="2400" dirty="0"/>
          </a:p>
          <a:p>
            <a:pPr>
              <a:lnSpc>
                <a:spcPct val="200000"/>
              </a:lnSpc>
            </a:pPr>
            <a:r>
              <a:rPr kumimoji="1" lang="zh-CN" altLang="en-US" sz="2400" dirty="0"/>
              <a:t>社团成员制作推文</a:t>
            </a:r>
            <a:r>
              <a:rPr kumimoji="1" lang="en-US" altLang="zh-CN" sz="2400" dirty="0"/>
              <a:t>     </a:t>
            </a:r>
            <a:r>
              <a:rPr kumimoji="1" lang="zh-CN" altLang="en-US" sz="2400" dirty="0"/>
              <a:t>发送至社指秀米账号并通知指定干事审核</a:t>
            </a:r>
            <a:r>
              <a:rPr kumimoji="1" lang="en-US" altLang="zh-CN" sz="2400" dirty="0"/>
              <a:t>      </a:t>
            </a:r>
            <a:r>
              <a:rPr kumimoji="1" lang="zh-CN" altLang="en-US" sz="2400" dirty="0"/>
              <a:t>审核通过后发布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endParaRPr kumimoji="1" lang="en-US" altLang="zh-CN" sz="2400" dirty="0"/>
          </a:p>
        </p:txBody>
      </p:sp>
      <p:sp>
        <p:nvSpPr>
          <p:cNvPr id="9" name="右箭头 2">
            <a:extLst>
              <a:ext uri="{FF2B5EF4-FFF2-40B4-BE49-F238E27FC236}">
                <a16:creationId xmlns:a16="http://schemas.microsoft.com/office/drawing/2014/main" id="{A509B13A-E907-1AC9-6993-37A7E1D50555}"/>
              </a:ext>
            </a:extLst>
          </p:cNvPr>
          <p:cNvSpPr/>
          <p:nvPr/>
        </p:nvSpPr>
        <p:spPr>
          <a:xfrm>
            <a:off x="3360996" y="2912730"/>
            <a:ext cx="333829" cy="274375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右箭头 2">
            <a:extLst>
              <a:ext uri="{FF2B5EF4-FFF2-40B4-BE49-F238E27FC236}">
                <a16:creationId xmlns:a16="http://schemas.microsoft.com/office/drawing/2014/main" id="{2D32A310-5D8F-5DA3-F6D7-83A9290E78FF}"/>
              </a:ext>
            </a:extLst>
          </p:cNvPr>
          <p:cNvSpPr/>
          <p:nvPr/>
        </p:nvSpPr>
        <p:spPr>
          <a:xfrm>
            <a:off x="9337258" y="2912730"/>
            <a:ext cx="333829" cy="274375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 descr="图形用户界面, 网站&#10;&#10;描述已自动生成">
            <a:extLst>
              <a:ext uri="{FF2B5EF4-FFF2-40B4-BE49-F238E27FC236}">
                <a16:creationId xmlns:a16="http://schemas.microsoft.com/office/drawing/2014/main" id="{05F86AF6-14B4-800F-F48C-1219D8FD2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633" y="3670896"/>
            <a:ext cx="5290123" cy="1969101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AA6E2B6-110D-CBC5-9B18-D16DFDF0C99E}"/>
              </a:ext>
            </a:extLst>
          </p:cNvPr>
          <p:cNvSpPr/>
          <p:nvPr/>
        </p:nvSpPr>
        <p:spPr>
          <a:xfrm>
            <a:off x="6196128" y="4008584"/>
            <a:ext cx="5901336" cy="821873"/>
          </a:xfrm>
          <a:prstGeom prst="roundRect">
            <a:avLst>
              <a:gd name="adj" fmla="val 1407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社指秀米账号：</a:t>
            </a:r>
            <a:r>
              <a:rPr lang="en-US" altLang="zh-CN" sz="2400" b="1" dirty="0"/>
              <a:t>izjuszzx@163.com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41005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3E56D91-8A71-F25D-417F-91AFCCE21BCB}"/>
              </a:ext>
            </a:extLst>
          </p:cNvPr>
          <p:cNvSpPr txBox="1"/>
          <p:nvPr/>
        </p:nvSpPr>
        <p:spPr>
          <a:xfrm>
            <a:off x="1110343" y="1761485"/>
            <a:ext cx="9971314" cy="4274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7200" indent="-457200">
              <a:lnSpc>
                <a:spcPct val="150000"/>
              </a:lnSpc>
              <a:buAutoNum type="arabicPeriod"/>
              <a:defRPr kumimoji="1" sz="2400"/>
            </a:lvl1pPr>
          </a:lstStyle>
          <a:p>
            <a:pPr>
              <a:lnSpc>
                <a:spcPct val="200000"/>
              </a:lnSpc>
            </a:pPr>
            <a:r>
              <a:rPr lang="zh-CN" altLang="en-US" dirty="0"/>
              <a:t>制作要求：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主题鲜明，活动时间、地点清晰明确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不</a:t>
            </a:r>
            <a:r>
              <a:rPr lang="zh-CN" altLang="en-US" dirty="0"/>
              <a:t>得</a:t>
            </a:r>
            <a:r>
              <a:rPr lang="en-US" altLang="zh-CN" dirty="0" err="1"/>
              <a:t>出现不积极、不健康的内容</a:t>
            </a:r>
            <a:r>
              <a:rPr lang="en-US" altLang="zh-CN" dirty="0"/>
              <a:t>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右下角署名：浙江大学国际校区学生XXXX社团</a:t>
            </a:r>
            <a:endParaRPr lang="en-US" altLang="zh-CN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 err="1"/>
              <a:t>筹备社团需在社团名后标注</a:t>
            </a:r>
            <a:r>
              <a:rPr lang="en-US" altLang="zh-CN" dirty="0"/>
              <a:t>“（筹）” </a:t>
            </a:r>
          </a:p>
          <a:p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9E6711-FF0F-6740-76BD-456CCCA24AA2}"/>
              </a:ext>
            </a:extLst>
          </p:cNvPr>
          <p:cNvSpPr txBox="1"/>
          <p:nvPr/>
        </p:nvSpPr>
        <p:spPr>
          <a:xfrm>
            <a:off x="1808275" y="610326"/>
            <a:ext cx="32681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b="1" dirty="0"/>
              <a:t>海报宣传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F27DEE-2C18-DFBC-B577-F0CC6D2842FD}"/>
              </a:ext>
            </a:extLst>
          </p:cNvPr>
          <p:cNvSpPr txBox="1"/>
          <p:nvPr/>
        </p:nvSpPr>
        <p:spPr>
          <a:xfrm>
            <a:off x="1808275" y="610326"/>
            <a:ext cx="3268133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b="1" dirty="0"/>
              <a:t>海报宣传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E532E3-CB20-5864-C49D-A69D1A9730B1}"/>
              </a:ext>
            </a:extLst>
          </p:cNvPr>
          <p:cNvSpPr txBox="1"/>
          <p:nvPr/>
        </p:nvSpPr>
        <p:spPr>
          <a:xfrm>
            <a:off x="605283" y="1605848"/>
            <a:ext cx="997131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张贴流程：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）审核：海报制作完成后将电子版发给指定干事进行审核</a:t>
            </a:r>
            <a:endParaRPr lang="en-US" altLang="zh-CN" sz="2400" dirty="0"/>
          </a:p>
          <a:p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）打印盖章：</a:t>
            </a:r>
            <a:r>
              <a:rPr lang="zh-CN" altLang="en-US" sz="2400" b="1" dirty="0"/>
              <a:t>审核通过之后才能打印</a:t>
            </a:r>
            <a:r>
              <a:rPr lang="zh-CN" altLang="en-US" sz="2400" dirty="0"/>
              <a:t>，由社团自行打印，打印后放在社指办公室等待盖章。</a:t>
            </a:r>
            <a:r>
              <a:rPr lang="zh-CN" altLang="en-US" sz="2400" b="1" dirty="0"/>
              <a:t>盖完章后才能张贴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）张贴：社团自行去社指办公室领取盖好章的海报进行张贴。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/>
              <a:t>海报须在校内允许的场所（一般为书院门口宣传栏，书院电梯间，超市与食堂间的白板）张贴。专用布告栏、宣传栏上未经批准不准张贴</a:t>
            </a:r>
            <a:r>
              <a:rPr lang="en-US" altLang="zh-CN" sz="2400" dirty="0"/>
              <a:t>。 </a:t>
            </a:r>
          </a:p>
          <a:p>
            <a:endParaRPr lang="en-US" altLang="zh-CN" sz="24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6112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2AA7F5-5937-89D2-8DFB-0040B48DB555}"/>
              </a:ext>
            </a:extLst>
          </p:cNvPr>
          <p:cNvSpPr txBox="1"/>
          <p:nvPr/>
        </p:nvSpPr>
        <p:spPr>
          <a:xfrm>
            <a:off x="3904342" y="2321004"/>
            <a:ext cx="73297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600" b="1"/>
              <a:t>筹备与转正</a:t>
            </a:r>
          </a:p>
        </p:txBody>
      </p:sp>
    </p:spTree>
    <p:extLst>
      <p:ext uri="{BB962C8B-B14F-4D97-AF65-F5344CB8AC3E}">
        <p14:creationId xmlns:p14="http://schemas.microsoft.com/office/powerpoint/2010/main" val="732514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637076" y="2087889"/>
            <a:ext cx="588755" cy="605751"/>
            <a:chOff x="2073007" y="2225818"/>
            <a:chExt cx="588755" cy="605751"/>
          </a:xfrm>
        </p:grpSpPr>
        <p:sp>
          <p:nvSpPr>
            <p:cNvPr id="7" name="椭圆 6"/>
            <p:cNvSpPr/>
            <p:nvPr/>
          </p:nvSpPr>
          <p:spPr>
            <a:xfrm>
              <a:off x="2073007" y="2225818"/>
              <a:ext cx="588755" cy="58875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175910" y="2246794"/>
              <a:ext cx="4315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1</a:t>
              </a: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623118" y="3415783"/>
            <a:ext cx="588755" cy="607169"/>
            <a:chOff x="2073007" y="3267086"/>
            <a:chExt cx="588755" cy="607169"/>
          </a:xfrm>
        </p:grpSpPr>
        <p:sp>
          <p:nvSpPr>
            <p:cNvPr id="10" name="椭圆 9"/>
            <p:cNvSpPr/>
            <p:nvPr/>
          </p:nvSpPr>
          <p:spPr>
            <a:xfrm>
              <a:off x="2073007" y="3267086"/>
              <a:ext cx="588755" cy="58875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175910" y="3289480"/>
              <a:ext cx="4315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2</a:t>
              </a: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621559" y="4763606"/>
            <a:ext cx="588755" cy="611149"/>
            <a:chOff x="2073007" y="4313154"/>
            <a:chExt cx="588755" cy="611149"/>
          </a:xfrm>
        </p:grpSpPr>
        <p:sp>
          <p:nvSpPr>
            <p:cNvPr id="13" name="椭圆 12"/>
            <p:cNvSpPr/>
            <p:nvPr/>
          </p:nvSpPr>
          <p:spPr>
            <a:xfrm>
              <a:off x="2073007" y="4313154"/>
              <a:ext cx="588755" cy="588755"/>
            </a:xfrm>
            <a:prstGeom prst="ellipse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175910" y="4339528"/>
              <a:ext cx="43152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rPr>
                <a:t>3</a:t>
              </a:r>
              <a:endPara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5" name="文本框 16"/>
          <p:cNvSpPr txBox="1"/>
          <p:nvPr/>
        </p:nvSpPr>
        <p:spPr>
          <a:xfrm>
            <a:off x="2506253" y="2087889"/>
            <a:ext cx="2584979" cy="34624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kern="0">
                <a:solidFill>
                  <a:srgbClr val="002060"/>
                </a:solidFill>
                <a:cs typeface="+mn-ea"/>
              </a:rPr>
              <a:t>帮助新社团成立和转正</a:t>
            </a:r>
            <a:endParaRPr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cs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506252" y="2444947"/>
            <a:ext cx="8064192" cy="395108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</a:rPr>
              <a:t>负责筹办中社团的建立，和帮助建立初期活动的开展，以及指导筹办中社团的后续转正</a:t>
            </a:r>
            <a:endParaRPr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+mn-ea"/>
            </a:endParaRPr>
          </a:p>
        </p:txBody>
      </p:sp>
      <p:sp>
        <p:nvSpPr>
          <p:cNvPr id="17" name="文本框 18"/>
          <p:cNvSpPr txBox="1"/>
          <p:nvPr/>
        </p:nvSpPr>
        <p:spPr>
          <a:xfrm>
            <a:off x="2506253" y="3430160"/>
            <a:ext cx="2801474" cy="34624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kern="0">
                <a:solidFill>
                  <a:srgbClr val="002060"/>
                </a:solidFill>
                <a:cs typeface="+mn-ea"/>
              </a:rPr>
              <a:t>帮助遇到困难的老社团</a:t>
            </a:r>
            <a:endParaRPr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cs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506251" y="3778486"/>
            <a:ext cx="8438003" cy="395108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当老社团因为各种原因，发展受阻时（由综合组评估），提供政策、组织和宣传上的帮扶。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文本框 20"/>
          <p:cNvSpPr txBox="1"/>
          <p:nvPr/>
        </p:nvSpPr>
        <p:spPr>
          <a:xfrm>
            <a:off x="2520630" y="4763606"/>
            <a:ext cx="2240873" cy="346249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kern="0">
                <a:solidFill>
                  <a:srgbClr val="002060"/>
                </a:solidFill>
                <a:cs typeface="+mn-ea"/>
              </a:rPr>
              <a:t>社指外联合</a:t>
            </a:r>
            <a:endParaRPr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cs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506251" y="5111933"/>
            <a:ext cx="8064191" cy="764440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600">
                <a:solidFill>
                  <a:prstClr val="black">
                    <a:lumMod val="85000"/>
                    <a:lumOff val="15000"/>
                  </a:prstClr>
                </a:solidFill>
                <a:cs typeface="+mn-ea"/>
                <a:sym typeface="+mn-lt"/>
              </a:rPr>
              <a:t>当社团发展需要除社团指导中心以外的组织协助时，如入住书院，入住体育馆，和其他校区或学校联合时，提供支持和协助沟通。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760294" y="123037"/>
            <a:ext cx="2364750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defTabSz="914400">
              <a:defRPr/>
            </a:pPr>
            <a:r>
              <a:rPr lang="zh-CN" altLang="en-US" sz="2800" b="1" spc="600">
                <a:cs typeface="+mn-ea"/>
              </a:rPr>
              <a:t>社团发展组</a:t>
            </a:r>
            <a:endParaRPr lang="zh-CN" altLang="en-US" sz="2800" b="1" spc="600" dirty="0">
              <a:cs typeface="+mn-ea"/>
            </a:endParaRPr>
          </a:p>
        </p:txBody>
      </p:sp>
      <p:sp>
        <p:nvSpPr>
          <p:cNvPr id="22" name="6"/>
          <p:cNvSpPr/>
          <p:nvPr/>
        </p:nvSpPr>
        <p:spPr bwMode="auto">
          <a:xfrm rot="5400000">
            <a:off x="5531735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3" name="6"/>
          <p:cNvSpPr/>
          <p:nvPr/>
        </p:nvSpPr>
        <p:spPr bwMode="auto">
          <a:xfrm rot="5400000">
            <a:off x="5802968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4" name="6"/>
          <p:cNvSpPr/>
          <p:nvPr/>
        </p:nvSpPr>
        <p:spPr bwMode="auto">
          <a:xfrm rot="5400000">
            <a:off x="6074201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5" name="6"/>
          <p:cNvSpPr/>
          <p:nvPr/>
        </p:nvSpPr>
        <p:spPr bwMode="auto">
          <a:xfrm rot="5400000">
            <a:off x="6345434" y="734101"/>
            <a:ext cx="153591" cy="133545"/>
          </a:xfrm>
          <a:custGeom>
            <a:avLst/>
            <a:gdLst>
              <a:gd name="T0" fmla="*/ 365 w 1306"/>
              <a:gd name="T1" fmla="*/ 1149 h 1149"/>
              <a:gd name="T2" fmla="*/ 300 w 1306"/>
              <a:gd name="T3" fmla="*/ 1111 h 1149"/>
              <a:gd name="T4" fmla="*/ 12 w 1306"/>
              <a:gd name="T5" fmla="*/ 613 h 1149"/>
              <a:gd name="T6" fmla="*/ 12 w 1306"/>
              <a:gd name="T7" fmla="*/ 537 h 1149"/>
              <a:gd name="T8" fmla="*/ 300 w 1306"/>
              <a:gd name="T9" fmla="*/ 38 h 1149"/>
              <a:gd name="T10" fmla="*/ 365 w 1306"/>
              <a:gd name="T11" fmla="*/ 0 h 1149"/>
              <a:gd name="T12" fmla="*/ 941 w 1306"/>
              <a:gd name="T13" fmla="*/ 0 h 1149"/>
              <a:gd name="T14" fmla="*/ 1006 w 1306"/>
              <a:gd name="T15" fmla="*/ 38 h 1149"/>
              <a:gd name="T16" fmla="*/ 1294 w 1306"/>
              <a:gd name="T17" fmla="*/ 537 h 1149"/>
              <a:gd name="T18" fmla="*/ 1294 w 1306"/>
              <a:gd name="T19" fmla="*/ 613 h 1149"/>
              <a:gd name="T20" fmla="*/ 1006 w 1306"/>
              <a:gd name="T21" fmla="*/ 1111 h 1149"/>
              <a:gd name="T22" fmla="*/ 941 w 1306"/>
              <a:gd name="T23" fmla="*/ 1149 h 1149"/>
              <a:gd name="T24" fmla="*/ 365 w 1306"/>
              <a:gd name="T25" fmla="*/ 1149 h 1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06" h="1149">
                <a:moveTo>
                  <a:pt x="365" y="1149"/>
                </a:moveTo>
                <a:cubicBezTo>
                  <a:pt x="341" y="1149"/>
                  <a:pt x="312" y="1132"/>
                  <a:pt x="300" y="1111"/>
                </a:cubicBezTo>
                <a:cubicBezTo>
                  <a:pt x="12" y="613"/>
                  <a:pt x="12" y="613"/>
                  <a:pt x="12" y="613"/>
                </a:cubicBezTo>
                <a:cubicBezTo>
                  <a:pt x="0" y="592"/>
                  <a:pt x="0" y="558"/>
                  <a:pt x="12" y="537"/>
                </a:cubicBezTo>
                <a:cubicBezTo>
                  <a:pt x="300" y="38"/>
                  <a:pt x="300" y="38"/>
                  <a:pt x="300" y="38"/>
                </a:cubicBezTo>
                <a:cubicBezTo>
                  <a:pt x="312" y="17"/>
                  <a:pt x="341" y="0"/>
                  <a:pt x="365" y="0"/>
                </a:cubicBezTo>
                <a:cubicBezTo>
                  <a:pt x="941" y="0"/>
                  <a:pt x="941" y="0"/>
                  <a:pt x="941" y="0"/>
                </a:cubicBezTo>
                <a:cubicBezTo>
                  <a:pt x="965" y="0"/>
                  <a:pt x="994" y="17"/>
                  <a:pt x="1006" y="38"/>
                </a:cubicBezTo>
                <a:cubicBezTo>
                  <a:pt x="1294" y="537"/>
                  <a:pt x="1294" y="537"/>
                  <a:pt x="1294" y="537"/>
                </a:cubicBezTo>
                <a:cubicBezTo>
                  <a:pt x="1306" y="558"/>
                  <a:pt x="1306" y="592"/>
                  <a:pt x="1294" y="613"/>
                </a:cubicBezTo>
                <a:cubicBezTo>
                  <a:pt x="1006" y="1111"/>
                  <a:pt x="1006" y="1111"/>
                  <a:pt x="1006" y="1111"/>
                </a:cubicBezTo>
                <a:cubicBezTo>
                  <a:pt x="994" y="1132"/>
                  <a:pt x="965" y="1149"/>
                  <a:pt x="941" y="1149"/>
                </a:cubicBezTo>
                <a:lnTo>
                  <a:pt x="365" y="1149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3247" y="646779"/>
            <a:ext cx="2153246" cy="78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31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1B4E2C93-7D01-12A9-57F7-A8A14270D3F0}"/>
              </a:ext>
            </a:extLst>
          </p:cNvPr>
          <p:cNvSpPr txBox="1"/>
          <p:nvPr/>
        </p:nvSpPr>
        <p:spPr>
          <a:xfrm>
            <a:off x="1502095" y="577904"/>
            <a:ext cx="6098796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b="1"/>
              <a:t>社团筹办</a:t>
            </a:r>
            <a:endParaRPr lang="zh-CN" altLang="en-US" sz="4000" b="1" dirty="0"/>
          </a:p>
        </p:txBody>
      </p:sp>
      <p:pic>
        <p:nvPicPr>
          <p:cNvPr id="4" name="图片 3" descr="文本, 信件&#10;&#10;已自动生成说明">
            <a:extLst>
              <a:ext uri="{FF2B5EF4-FFF2-40B4-BE49-F238E27FC236}">
                <a16:creationId xmlns:a16="http://schemas.microsoft.com/office/drawing/2014/main" id="{F11FDFD4-58BE-444F-6C9A-F4125426D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85" y="1995757"/>
            <a:ext cx="6096000" cy="2511007"/>
          </a:xfrm>
          <a:prstGeom prst="rect">
            <a:avLst/>
          </a:prstGeom>
        </p:spPr>
      </p:pic>
      <p:sp>
        <p:nvSpPr>
          <p:cNvPr id="5" name="文本框 3">
            <a:extLst>
              <a:ext uri="{FF2B5EF4-FFF2-40B4-BE49-F238E27FC236}">
                <a16:creationId xmlns:a16="http://schemas.microsoft.com/office/drawing/2014/main" id="{5E328C44-F14B-B543-E79F-5D7DA4C16FA7}"/>
              </a:ext>
            </a:extLst>
          </p:cNvPr>
          <p:cNvSpPr txBox="1"/>
          <p:nvPr/>
        </p:nvSpPr>
        <p:spPr>
          <a:xfrm>
            <a:off x="994095" y="1466904"/>
            <a:ext cx="9681817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/>
              <a:t>填写以下六个文件（找社团发展组干事或负责人要）</a:t>
            </a:r>
            <a:endParaRPr lang="zh-CN" altLang="en-US" sz="2800" b="1" dirty="0"/>
          </a:p>
        </p:txBody>
      </p:sp>
      <p:sp>
        <p:nvSpPr>
          <p:cNvPr id="6" name="文本框 3">
            <a:extLst>
              <a:ext uri="{FF2B5EF4-FFF2-40B4-BE49-F238E27FC236}">
                <a16:creationId xmlns:a16="http://schemas.microsoft.com/office/drawing/2014/main" id="{FDEDC33B-D67E-5FF8-EEEA-0B3C8FE310CA}"/>
              </a:ext>
            </a:extLst>
          </p:cNvPr>
          <p:cNvSpPr txBox="1"/>
          <p:nvPr/>
        </p:nvSpPr>
        <p:spPr>
          <a:xfrm>
            <a:off x="994094" y="4628392"/>
            <a:ext cx="9681817" cy="1384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/>
              <a:t>注意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1、不需要完成线上注册</a:t>
            </a:r>
          </a:p>
          <a:p>
            <a:r>
              <a:rPr lang="zh-CN" altLang="en-US" sz="2800" b="1" dirty="0"/>
              <a:t>         2、负责人可以是大一，但是成绩空出来</a:t>
            </a:r>
          </a:p>
          <a:p>
            <a:r>
              <a:rPr lang="zh-CN" altLang="en-US" sz="2800" b="1" dirty="0"/>
              <a:t>         3、筹办中社团活动经费每学期300（除活动外）</a:t>
            </a:r>
          </a:p>
        </p:txBody>
      </p:sp>
    </p:spTree>
    <p:extLst>
      <p:ext uri="{BB962C8B-B14F-4D97-AF65-F5344CB8AC3E}">
        <p14:creationId xmlns:p14="http://schemas.microsoft.com/office/powerpoint/2010/main" val="2622663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>
            <a:extLst>
              <a:ext uri="{FF2B5EF4-FFF2-40B4-BE49-F238E27FC236}">
                <a16:creationId xmlns:a16="http://schemas.microsoft.com/office/drawing/2014/main" id="{1B4E2C93-7D01-12A9-57F7-A8A14270D3F0}"/>
              </a:ext>
            </a:extLst>
          </p:cNvPr>
          <p:cNvSpPr txBox="1"/>
          <p:nvPr/>
        </p:nvSpPr>
        <p:spPr>
          <a:xfrm>
            <a:off x="1226478" y="1356117"/>
            <a:ext cx="6098796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b="1"/>
              <a:t>社团转正</a:t>
            </a:r>
            <a:endParaRPr lang="zh-CN" altLang="en-US" sz="4000" b="1" dirty="0"/>
          </a:p>
        </p:txBody>
      </p:sp>
      <p:sp>
        <p:nvSpPr>
          <p:cNvPr id="5" name="文本框 3">
            <a:extLst>
              <a:ext uri="{FF2B5EF4-FFF2-40B4-BE49-F238E27FC236}">
                <a16:creationId xmlns:a16="http://schemas.microsoft.com/office/drawing/2014/main" id="{5E328C44-F14B-B543-E79F-5D7DA4C16FA7}"/>
              </a:ext>
            </a:extLst>
          </p:cNvPr>
          <p:cNvSpPr txBox="1"/>
          <p:nvPr/>
        </p:nvSpPr>
        <p:spPr>
          <a:xfrm>
            <a:off x="1042733" y="2974691"/>
            <a:ext cx="9681817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rtl="0"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/>
              <a:t>1、负责人通过资格考试。</a:t>
            </a:r>
            <a:endParaRPr lang="zh-CN" altLang="en-US" sz="2800" b="1" dirty="0"/>
          </a:p>
          <a:p>
            <a:endParaRPr lang="zh-CN" altLang="en-US" sz="2800" b="1" dirty="0"/>
          </a:p>
          <a:p>
            <a:r>
              <a:rPr lang="zh-CN" altLang="en-US" sz="2800" b="1"/>
              <a:t>2、在年末转正答辩进入前80%。</a:t>
            </a:r>
          </a:p>
          <a:p>
            <a:endParaRPr lang="zh-CN" altLang="en-US" sz="2800" b="1" dirty="0"/>
          </a:p>
          <a:p>
            <a:r>
              <a:rPr lang="zh-CN" altLang="en-US" sz="2800" b="1"/>
              <a:t>3、筹办期间举行过至少一次高质量活动。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43700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910DC2-D772-3D04-27C3-445C095DB784}"/>
              </a:ext>
            </a:extLst>
          </p:cNvPr>
          <p:cNvSpPr txBox="1"/>
          <p:nvPr/>
        </p:nvSpPr>
        <p:spPr>
          <a:xfrm>
            <a:off x="2493819" y="2840182"/>
            <a:ext cx="88233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/>
              <a:t>欢迎各位社长提问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6514DF-C126-4070-458D-4A18FEBAC5D2}"/>
              </a:ext>
            </a:extLst>
          </p:cNvPr>
          <p:cNvSpPr txBox="1"/>
          <p:nvPr/>
        </p:nvSpPr>
        <p:spPr>
          <a:xfrm>
            <a:off x="1238004" y="988107"/>
            <a:ext cx="73923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dirty="0">
                <a:cs typeface="+mn-ea"/>
              </a:rPr>
              <a:t>03</a:t>
            </a:r>
            <a:r>
              <a:rPr lang="zh-CN" altLang="en-US" sz="4400" b="1" dirty="0">
                <a:cs typeface="+mn-ea"/>
              </a:rPr>
              <a:t> </a:t>
            </a:r>
            <a:r>
              <a:rPr lang="en-US" altLang="zh-CN" sz="4400" b="1" dirty="0">
                <a:cs typeface="+mn-ea"/>
                <a:sym typeface="+mn-lt"/>
              </a:rPr>
              <a:t>QA</a:t>
            </a:r>
            <a:endParaRPr lang="zh-CN" altLang="en-US" sz="4400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7030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7E0C829-F1A6-103C-F85F-650FE3BFA61B}"/>
              </a:ext>
            </a:extLst>
          </p:cNvPr>
          <p:cNvSpPr txBox="1"/>
          <p:nvPr/>
        </p:nvSpPr>
        <p:spPr>
          <a:xfrm>
            <a:off x="526762" y="930625"/>
            <a:ext cx="73844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b="1" dirty="0">
                <a:cs typeface="+mn-ea"/>
              </a:rPr>
              <a:t>负责人资格考试</a:t>
            </a:r>
            <a:endParaRPr lang="zh-CN" altLang="en-US" sz="4400" b="1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9D3296-67F6-7B77-6895-67A44A1D24D3}"/>
              </a:ext>
            </a:extLst>
          </p:cNvPr>
          <p:cNvSpPr txBox="1"/>
          <p:nvPr/>
        </p:nvSpPr>
        <p:spPr>
          <a:xfrm>
            <a:off x="814532" y="2020898"/>
            <a:ext cx="3650529" cy="1308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/>
              <a:t>明晚，后晚</a:t>
            </a:r>
            <a:endParaRPr kumimoji="1" lang="en-US" altLang="zh-CN" sz="2800" dirty="0"/>
          </a:p>
          <a:p>
            <a:pPr>
              <a:lnSpc>
                <a:spcPct val="150000"/>
              </a:lnSpc>
            </a:pPr>
            <a:r>
              <a:rPr kumimoji="1" lang="zh-CN" altLang="en-US" sz="2800" dirty="0"/>
              <a:t>请大家注意复习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4ADACA-95CA-82DB-C09B-E99AB3A0C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32" y="4141354"/>
            <a:ext cx="3136900" cy="1041400"/>
          </a:xfrm>
          <a:prstGeom prst="rect">
            <a:avLst/>
          </a:prstGeom>
        </p:spPr>
      </p:pic>
      <p:pic>
        <p:nvPicPr>
          <p:cNvPr id="7" name="图片 6" descr="表格&#10;&#10;描述已自动生成">
            <a:extLst>
              <a:ext uri="{FF2B5EF4-FFF2-40B4-BE49-F238E27FC236}">
                <a16:creationId xmlns:a16="http://schemas.microsoft.com/office/drawing/2014/main" id="{D6CD8DC9-BE6E-CF27-29C8-A90694635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955" y="78351"/>
            <a:ext cx="7493385" cy="650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14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直角三角形 71"/>
          <p:cNvSpPr/>
          <p:nvPr/>
        </p:nvSpPr>
        <p:spPr>
          <a:xfrm rot="5400000">
            <a:off x="1588" y="-1"/>
            <a:ext cx="3715658" cy="3715658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1" name="直角三角形 70"/>
          <p:cNvSpPr/>
          <p:nvPr/>
        </p:nvSpPr>
        <p:spPr>
          <a:xfrm rot="16200000">
            <a:off x="8689233" y="3356819"/>
            <a:ext cx="3501180" cy="350118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直角三角形 1"/>
          <p:cNvSpPr/>
          <p:nvPr/>
        </p:nvSpPr>
        <p:spPr>
          <a:xfrm rot="5400000">
            <a:off x="1588" y="0"/>
            <a:ext cx="3257921" cy="3257921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0" name="直角三角形 69"/>
          <p:cNvSpPr/>
          <p:nvPr/>
        </p:nvSpPr>
        <p:spPr>
          <a:xfrm rot="16200000">
            <a:off x="9120547" y="3788134"/>
            <a:ext cx="3069865" cy="3069865"/>
          </a:xfrm>
          <a:prstGeom prst="rtTriangl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平行四边形 2"/>
          <p:cNvSpPr/>
          <p:nvPr/>
        </p:nvSpPr>
        <p:spPr>
          <a:xfrm>
            <a:off x="1781419" y="2"/>
            <a:ext cx="3088716" cy="1805556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3" name="平行四边形 72"/>
          <p:cNvSpPr/>
          <p:nvPr/>
        </p:nvSpPr>
        <p:spPr>
          <a:xfrm>
            <a:off x="-2438922" y="1167126"/>
            <a:ext cx="3234853" cy="2990774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4" name="平行四边形 73"/>
          <p:cNvSpPr/>
          <p:nvPr/>
        </p:nvSpPr>
        <p:spPr>
          <a:xfrm>
            <a:off x="11681703" y="2998581"/>
            <a:ext cx="3048130" cy="2818139"/>
          </a:xfrm>
          <a:prstGeom prst="parallelogram">
            <a:avLst>
              <a:gd name="adj" fmla="val 1001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5" name="平行四边形 74"/>
          <p:cNvSpPr/>
          <p:nvPr/>
        </p:nvSpPr>
        <p:spPr>
          <a:xfrm>
            <a:off x="7497122" y="5167086"/>
            <a:ext cx="2910426" cy="1701334"/>
          </a:xfrm>
          <a:prstGeom prst="parallelogram">
            <a:avLst>
              <a:gd name="adj" fmla="val 1001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35938" y="2724270"/>
            <a:ext cx="10745765" cy="1107996"/>
          </a:xfrm>
          <a:prstGeom prst="rect">
            <a:avLst/>
          </a:prstGeom>
        </p:spPr>
        <p:txBody>
          <a:bodyPr vert="horz"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kern="100" dirty="0">
                <a:solidFill>
                  <a:srgbClr val="002060"/>
                </a:solidFill>
                <a:cs typeface="+mn-ea"/>
                <a:sym typeface="+mn-lt"/>
              </a:rPr>
              <a:t>感谢您的参与</a:t>
            </a:r>
            <a:endParaRPr lang="zh-CN" altLang="zh-CN" sz="6600" b="1" kern="100" dirty="0">
              <a:solidFill>
                <a:srgbClr val="002060"/>
              </a:solidFill>
              <a:cs typeface="+mn-ea"/>
              <a:sym typeface="+mn-lt"/>
            </a:endParaRPr>
          </a:p>
        </p:txBody>
      </p:sp>
      <p:sp>
        <p:nvSpPr>
          <p:cNvPr id="16" name="六边形 15"/>
          <p:cNvSpPr/>
          <p:nvPr/>
        </p:nvSpPr>
        <p:spPr>
          <a:xfrm flipH="1">
            <a:off x="3468045" y="4791159"/>
            <a:ext cx="2015699" cy="431936"/>
          </a:xfrm>
          <a:prstGeom prst="hexagon">
            <a:avLst/>
          </a:prstGeom>
          <a:solidFill>
            <a:schemeClr val="bg1"/>
          </a:solidFill>
          <a:ln w="19050">
            <a:gradFill>
              <a:gsLst>
                <a:gs pos="0">
                  <a:schemeClr val="bg1"/>
                </a:gs>
                <a:gs pos="100000">
                  <a:srgbClr val="CBCBCB"/>
                </a:gs>
              </a:gsLst>
              <a:lin ang="5400000" scaled="0"/>
            </a:gradFill>
          </a:ln>
          <a:effectLst>
            <a:outerShdw blurRad="1905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3385523" y="4784730"/>
            <a:ext cx="2159677" cy="48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zh-CN" altLang="en-US" sz="1600" b="0" dirty="0">
                <a:solidFill>
                  <a:prstClr val="black"/>
                </a:solidFill>
                <a:cs typeface="+mn-ea"/>
                <a:sym typeface="+mn-lt"/>
              </a:rPr>
              <a:t>社指中心</a:t>
            </a:r>
            <a:endParaRPr lang="zh-CN" altLang="zh-CN" sz="1600" b="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8" name="六边形 17"/>
          <p:cNvSpPr/>
          <p:nvPr/>
        </p:nvSpPr>
        <p:spPr>
          <a:xfrm flipH="1">
            <a:off x="6351772" y="4794428"/>
            <a:ext cx="2015699" cy="431936"/>
          </a:xfrm>
          <a:prstGeom prst="hexagon">
            <a:avLst/>
          </a:prstGeom>
          <a:solidFill>
            <a:schemeClr val="bg1"/>
          </a:solidFill>
          <a:ln w="19050">
            <a:gradFill>
              <a:gsLst>
                <a:gs pos="0">
                  <a:schemeClr val="bg1"/>
                </a:gs>
                <a:gs pos="100000">
                  <a:srgbClr val="CBCBCB"/>
                </a:gs>
              </a:gsLst>
              <a:lin ang="5400000" scaled="0"/>
            </a:gradFill>
          </a:ln>
          <a:effectLst>
            <a:outerShdw blurRad="1905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9" name="Rectangle 4"/>
          <p:cNvSpPr txBox="1">
            <a:spLocks noChangeArrowheads="1"/>
          </p:cNvSpPr>
          <p:nvPr/>
        </p:nvSpPr>
        <p:spPr bwMode="auto">
          <a:xfrm>
            <a:off x="6288476" y="4784730"/>
            <a:ext cx="2159677" cy="48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r>
              <a:rPr lang="en-US" altLang="zh-CN" sz="1600" b="0" dirty="0">
                <a:solidFill>
                  <a:prstClr val="black"/>
                </a:solidFill>
                <a:cs typeface="+mn-ea"/>
                <a:sym typeface="+mn-lt"/>
              </a:rPr>
              <a:t>2024.09.27</a:t>
            </a:r>
            <a:endParaRPr lang="zh-CN" altLang="zh-CN" sz="1600" b="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651" y="1167126"/>
            <a:ext cx="3455377" cy="126317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heme/theme1.xml><?xml version="1.0" encoding="utf-8"?>
<a:theme xmlns:a="http://schemas.openxmlformats.org/drawingml/2006/main" name="第一PPT，www.1ppt.com">
  <a:themeElements>
    <a:clrScheme name="自定义 37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00000"/>
      </a:accent1>
      <a:accent2>
        <a:srgbClr val="119169"/>
      </a:accent2>
      <a:accent3>
        <a:srgbClr val="C00000"/>
      </a:accent3>
      <a:accent4>
        <a:srgbClr val="119169"/>
      </a:accent4>
      <a:accent5>
        <a:srgbClr val="C00000"/>
      </a:accent5>
      <a:accent6>
        <a:srgbClr val="119169"/>
      </a:accent6>
      <a:hlink>
        <a:srgbClr val="C00000"/>
      </a:hlink>
      <a:folHlink>
        <a:srgbClr val="119169"/>
      </a:folHlink>
    </a:clrScheme>
    <a:fontScheme name="rmjarsww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da32050-518c-4997-8ab4-4cc51d0a1678" xsi:nil="true"/>
    <lcf76f155ced4ddcb4097134ff3c332f xmlns="49cfd4c3-aab8-4bad-bf62-2697e62ba27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6197A42849C7F94995F3C83E41EA16EC" ma:contentTypeVersion="11" ma:contentTypeDescription="新建文档。" ma:contentTypeScope="" ma:versionID="243ced7b38791f7bd10135d8b83059e6">
  <xsd:schema xmlns:xsd="http://www.w3.org/2001/XMLSchema" xmlns:xs="http://www.w3.org/2001/XMLSchema" xmlns:p="http://schemas.microsoft.com/office/2006/metadata/properties" xmlns:ns2="49cfd4c3-aab8-4bad-bf62-2697e62ba274" xmlns:ns3="8da32050-518c-4997-8ab4-4cc51d0a1678" targetNamespace="http://schemas.microsoft.com/office/2006/metadata/properties" ma:root="true" ma:fieldsID="755a6b2123466e594ac874f8318050fc" ns2:_="" ns3:_="">
    <xsd:import namespace="49cfd4c3-aab8-4bad-bf62-2697e62ba274"/>
    <xsd:import namespace="8da32050-518c-4997-8ab4-4cc51d0a16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cfd4c3-aab8-4bad-bf62-2697e62ba2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图像标记" ma:readOnly="false" ma:fieldId="{5cf76f15-5ced-4ddc-b409-7134ff3c332f}" ma:taxonomyMulti="true" ma:sspId="7295ae64-9a29-4c67-839c-ad9210f5b6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a32050-518c-4997-8ab4-4cc51d0a167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8787f21-0258-4101-9a40-af36687ab50b}" ma:internalName="TaxCatchAll" ma:showField="CatchAllData" ma:web="8da32050-518c-4997-8ab4-4cc51d0a16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0D7D62-8CF2-4FDB-B697-BDDF8C90ED86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8da32050-518c-4997-8ab4-4cc51d0a1678"/>
    <ds:schemaRef ds:uri="49cfd4c3-aab8-4bad-bf62-2697e62ba27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C65AD43-EA58-4A26-8DCF-D2E0CCEF47D0}">
  <ds:schemaRefs>
    <ds:schemaRef ds:uri="49cfd4c3-aab8-4bad-bf62-2697e62ba274"/>
    <ds:schemaRef ds:uri="8da32050-518c-4997-8ab4-4cc51d0a16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6DF4CD6-36AA-4C1C-878D-539217DF21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1625</Words>
  <Application>Microsoft Office PowerPoint</Application>
  <PresentationFormat>宽屏</PresentationFormat>
  <Paragraphs>229</Paragraphs>
  <Slides>36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Microsoft YaHei UI</vt:lpstr>
      <vt:lpstr>Microsoft YaHei UI</vt:lpstr>
      <vt:lpstr>WenQuanYi</vt:lpstr>
      <vt:lpstr>阿里巴巴普惠体 R</vt:lpstr>
      <vt:lpstr>SimHei</vt:lpstr>
      <vt:lpstr>SimHei</vt:lpstr>
      <vt:lpstr>Microsoft YaHei</vt:lpstr>
      <vt:lpstr>Microsoft YaHei</vt:lpstr>
      <vt:lpstr>Arial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蓝色商务</dc:title>
  <dc:creator>第一PPT</dc:creator>
  <cp:keywords>www.1ppt.com</cp:keywords>
  <dc:description>www.1ppt.com</dc:description>
  <cp:lastModifiedBy>Chen, Shutong</cp:lastModifiedBy>
  <cp:revision>5</cp:revision>
  <dcterms:created xsi:type="dcterms:W3CDTF">2024-09-26T10:49:24Z</dcterms:created>
  <dcterms:modified xsi:type="dcterms:W3CDTF">2024-09-27T12:07:14Z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2052-6.0.2.8225</vt:lpwstr>
  </property>
  <property fmtid="{D5CDD505-2E9C-101B-9397-08002B2CF9AE}" pid="3" name="ICV">
    <vt:lpwstr>01AB744A25843C094B3AF5667EBA66FD_43</vt:lpwstr>
  </property>
  <property fmtid="{D5CDD505-2E9C-101B-9397-08002B2CF9AE}" pid="4" name="ContentTypeId">
    <vt:lpwstr>0x0101006197A42849C7F94995F3C83E41EA16EC</vt:lpwstr>
  </property>
  <property fmtid="{D5CDD505-2E9C-101B-9397-08002B2CF9AE}" pid="5" name="MediaServiceImageTags">
    <vt:lpwstr/>
  </property>
</Properties>
</file>